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0" y="0"/>
            <a:ext cx="73152" cy="685800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0D4C8">
              <a:alpha val="12000"/>
            </a:srgbClr>
          </a:solidFill>
          <a:ln w="12700">
            <a:solidFill>
              <a:srgbClr val="00D4C8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3200400"/>
            <a:ext cx="4572000" cy="4572000"/>
          </a:xfrm>
          <a:prstGeom prst="ellipse">
            <a:avLst/>
          </a:prstGeom>
          <a:solidFill>
            <a:srgbClr val="00D4C8">
              <a:alpha val="12000"/>
            </a:srgbClr>
          </a:solidFill>
          <a:ln w="12700">
            <a:solidFill>
              <a:srgbClr val="00D4C8">
                <a:alpha val="2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7432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320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LOVELY PROFESSIONAL UNIVERSITY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234440" y="685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Punjab, India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11480" y="12801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1691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" y="2103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11480" y="2743200"/>
            <a:ext cx="1463040" cy="36576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2880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Shubhachand Patel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11480" y="32186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No. 12208506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11480" y="3474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— 8th Semester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11480" y="3931920"/>
            <a:ext cx="3200400" cy="594360"/>
          </a:xfrm>
          <a:prstGeom prst="rect">
            <a:avLst>
              <a:gd name="adj" fmla="val 7692"/>
            </a:avLst>
          </a:prstGeom>
          <a:solidFill>
            <a:srgbClr val="00D4C8">
              <a:alpha val="12000"/>
            </a:srgbClr>
          </a:solidFill>
          <a:ln w="12700">
            <a:solidFill>
              <a:srgbClr val="00D4C8">
                <a:alpha val="4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959352"/>
            <a:ext cx="31089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Cognizant Technology Solutions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 ·  2025–2026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297680" y="100584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WellTrack</a:t>
            </a:r>
            <a:endParaRPr lang="en-US" sz="7200" dirty="0"/>
          </a:p>
        </p:txBody>
      </p:sp>
      <p:sp>
        <p:nvSpPr>
          <p:cNvPr id="19" name="Text 16"/>
          <p:cNvSpPr/>
          <p:nvPr/>
        </p:nvSpPr>
        <p:spPr>
          <a:xfrm>
            <a:off x="4297680" y="21945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Wellness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4297680" y="27432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3200" dirty="0"/>
          </a:p>
        </p:txBody>
      </p:sp>
      <p:sp>
        <p:nvSpPr>
          <p:cNvPr id="21" name="Shape 18"/>
          <p:cNvSpPr/>
          <p:nvPr/>
        </p:nvSpPr>
        <p:spPr>
          <a:xfrm>
            <a:off x="4297680" y="3749040"/>
            <a:ext cx="1737360" cy="347472"/>
          </a:xfrm>
          <a:prstGeom prst="rect">
            <a:avLst/>
          </a:prstGeom>
          <a:solidFill>
            <a:srgbClr val="FF6B35">
              <a:alpha val="25000"/>
            </a:srgbClr>
          </a:solidFill>
          <a:ln w="12700">
            <a:solidFill>
              <a:srgbClr val="FF6B35">
                <a:alpha val="6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97680" y="37490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217920" y="3749040"/>
            <a:ext cx="1737360" cy="347472"/>
          </a:xfrm>
          <a:prstGeom prst="rect">
            <a:avLst/>
          </a:prstGeom>
          <a:solidFill>
            <a:srgbClr val="264DE4">
              <a:alpha val="25000"/>
            </a:srgbClr>
          </a:solidFill>
          <a:ln w="12700">
            <a:solidFill>
              <a:srgbClr val="264DE4">
                <a:alpha val="6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17920" y="37490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8138160" y="3749040"/>
            <a:ext cx="1737360" cy="347472"/>
          </a:xfrm>
          <a:prstGeom prst="rect">
            <a:avLst/>
          </a:prstGeom>
          <a:solidFill>
            <a:srgbClr val="F0DB4F">
              <a:alpha val="25000"/>
            </a:srgbClr>
          </a:solidFill>
          <a:ln w="12700">
            <a:solidFill>
              <a:srgbClr val="F0DB4F">
                <a:alpha val="6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38160" y="37490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10058400" y="3749040"/>
            <a:ext cx="1737360" cy="347472"/>
          </a:xfrm>
          <a:prstGeom prst="rect">
            <a:avLst/>
          </a:prstGeom>
          <a:solidFill>
            <a:srgbClr val="512BD4">
              <a:alpha val="25000"/>
            </a:srgbClr>
          </a:solidFill>
          <a:ln w="12700">
            <a:solidFill>
              <a:srgbClr val="512BD4">
                <a:alpha val="6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058400" y="37490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Web API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297680" y="4251960"/>
            <a:ext cx="1737360" cy="347472"/>
          </a:xfrm>
          <a:prstGeom prst="rect">
            <a:avLst/>
          </a:prstGeom>
          <a:solidFill>
            <a:srgbClr val="DD0031">
              <a:alpha val="25000"/>
            </a:srgbClr>
          </a:solidFill>
          <a:ln w="12700">
            <a:solidFill>
              <a:srgbClr val="DD0031">
                <a:alpha val="6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297680" y="4251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217920" y="4251960"/>
            <a:ext cx="1737360" cy="347472"/>
          </a:xfrm>
          <a:prstGeom prst="rect">
            <a:avLst/>
          </a:prstGeom>
          <a:solidFill>
            <a:srgbClr val="3178C6">
              <a:alpha val="25000"/>
            </a:srgbClr>
          </a:solidFill>
          <a:ln w="12700">
            <a:solidFill>
              <a:srgbClr val="3178C6">
                <a:alpha val="6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217920" y="4251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8138160" y="4251960"/>
            <a:ext cx="1737360" cy="347472"/>
          </a:xfrm>
          <a:prstGeom prst="rect">
            <a:avLst/>
          </a:prstGeom>
          <a:solidFill>
            <a:srgbClr val="CC2927">
              <a:alpha val="25000"/>
            </a:srgbClr>
          </a:solidFill>
          <a:ln w="12700">
            <a:solidFill>
              <a:srgbClr val="CC2927">
                <a:alpha val="60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138160" y="4251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10058400" y="4251960"/>
            <a:ext cx="1737360" cy="347472"/>
          </a:xfrm>
          <a:prstGeom prst="rect">
            <a:avLst/>
          </a:prstGeom>
          <a:solidFill>
            <a:srgbClr val="7B68EE">
              <a:alpha val="25000"/>
            </a:srgbClr>
          </a:solidFill>
          <a:ln w="12700">
            <a:solidFill>
              <a:srgbClr val="7B68EE">
                <a:alpha val="60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058400" y="4251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4297680" y="4846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Weeks · 8 Microservices · Full-Stack Mastery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3657600" cy="1965960"/>
          </a:xfrm>
          <a:prstGeom prst="rect">
            <a:avLst/>
          </a:prstGeom>
          <a:solidFill>
            <a:srgbClr val="0F2744"/>
          </a:solidFill>
          <a:ln w="12700">
            <a:solidFill>
              <a:srgbClr val="FF6B35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64008" cy="19659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146304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920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Curriculum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235915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JS · .NET · Angular · TypeScript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70248" y="1371600"/>
            <a:ext cx="3657600" cy="1965960"/>
          </a:xfrm>
          <a:prstGeom prst="rect">
            <a:avLst/>
          </a:prstGeom>
          <a:solidFill>
            <a:srgbClr val="0F2744"/>
          </a:solidFill>
          <a:ln w="12700">
            <a:solidFill>
              <a:srgbClr val="00D4C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70248" y="1371600"/>
            <a:ext cx="64008" cy="196596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53128" y="14813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88" y="146304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53128" y="1920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453128" y="235915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Microservices + Ocelot API Gateway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174736" y="1371600"/>
            <a:ext cx="3657600" cy="1965960"/>
          </a:xfrm>
          <a:prstGeom prst="rect">
            <a:avLst/>
          </a:prstGeom>
          <a:solidFill>
            <a:srgbClr val="0F2744"/>
          </a:solidFill>
          <a:ln w="12700">
            <a:solidFill>
              <a:srgbClr val="512BD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74736" y="1371600"/>
            <a:ext cx="64008" cy="1965960"/>
          </a:xfrm>
          <a:prstGeom prst="rect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357616" y="14813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12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7976" y="1463040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57616" y="1920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.NET Web API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8357616" y="235915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APIs · JWT · EF Core · Repository Pattern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65760" y="3657600"/>
            <a:ext cx="3657600" cy="1965960"/>
          </a:xfrm>
          <a:prstGeom prst="rect">
            <a:avLst/>
          </a:prstGeom>
          <a:solidFill>
            <a:srgbClr val="0F2744"/>
          </a:solidFill>
          <a:ln w="12700">
            <a:solidFill>
              <a:srgbClr val="DD0031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65760" y="3657600"/>
            <a:ext cx="64008" cy="1965960"/>
          </a:xfrm>
          <a:prstGeom prst="rect">
            <a:avLst/>
          </a:prstGeom>
          <a:solidFill>
            <a:srgbClr val="DD0031"/>
          </a:solidFill>
          <a:ln w="12700">
            <a:solidFill>
              <a:srgbClr val="DD0031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48640" y="37673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D0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3749040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8640" y="4206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Angular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548640" y="464515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Components · Signals · TypeScript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270248" y="3657600"/>
            <a:ext cx="3657600" cy="1965960"/>
          </a:xfrm>
          <a:prstGeom prst="rect">
            <a:avLst/>
          </a:prstGeom>
          <a:solidFill>
            <a:srgbClr val="0F2744"/>
          </a:solidFill>
          <a:ln w="12700">
            <a:solidFill>
              <a:srgbClr val="EAB30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270248" y="3657600"/>
            <a:ext cx="64008" cy="196596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453128" y="37673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488" y="3749040"/>
            <a:ext cx="384048" cy="38404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453128" y="4206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Analytics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4453128" y="464515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Data Aggregation · KPI Dashboards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8174736" y="3657600"/>
            <a:ext cx="3657600" cy="1965960"/>
          </a:xfrm>
          <a:prstGeom prst="rect">
            <a:avLst/>
          </a:prstGeom>
          <a:solidFill>
            <a:srgbClr val="0F2744"/>
          </a:solidFill>
          <a:ln w="12700">
            <a:solidFill>
              <a:srgbClr val="A855F7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174736" y="3657600"/>
            <a:ext cx="64008" cy="19659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8357616" y="37673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37976" y="3749040"/>
            <a:ext cx="384048" cy="38404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357616" y="4206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Auth</a:t>
            </a:r>
            <a:endParaRPr lang="en-US" sz="1350" dirty="0"/>
          </a:p>
        </p:txBody>
      </p:sp>
      <p:sp>
        <p:nvSpPr>
          <p:cNvPr id="39" name="Text 31"/>
          <p:cNvSpPr/>
          <p:nvPr/>
        </p:nvSpPr>
        <p:spPr>
          <a:xfrm>
            <a:off x="8357616" y="464515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BCrypt · RBAC · Route Guards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15-Week Training Curriculum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skill-building from web fundamentals to enterprise microservices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11247120" cy="45720"/>
          </a:xfrm>
          <a:prstGeom prst="rect">
            <a:avLst/>
          </a:prstGeom>
          <a:solidFill>
            <a:srgbClr val="00D4C8">
              <a:alpha val="40000"/>
            </a:srgbClr>
          </a:solidFill>
          <a:ln w="12700">
            <a:solidFill>
              <a:srgbClr val="00D4C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2514600" cy="1143000"/>
          </a:xfrm>
          <a:prstGeom prst="rect">
            <a:avLst/>
          </a:prstGeom>
          <a:solidFill>
            <a:srgbClr val="0F2744"/>
          </a:solidFill>
          <a:ln w="12700">
            <a:solidFill>
              <a:srgbClr val="FF6B35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251460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7840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9692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12984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Fundamentals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463040" y="2029968"/>
            <a:ext cx="237744" cy="237744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331720"/>
            <a:ext cx="2514600" cy="2103120"/>
          </a:xfrm>
          <a:prstGeom prst="rect">
            <a:avLst/>
          </a:prstGeom>
          <a:solidFill>
            <a:srgbClr val="162E52"/>
          </a:solidFill>
          <a:ln w="12700">
            <a:solidFill>
              <a:srgbClr val="FF6B35">
                <a:alpha val="3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30352" y="2450592"/>
            <a:ext cx="109728" cy="1097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24048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Semantics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30352" y="2926080"/>
            <a:ext cx="109728" cy="1097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" y="28803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Flexbox / Grid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30352" y="3401568"/>
            <a:ext cx="109728" cy="1097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3232" y="335584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ES6+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30352" y="3877056"/>
            <a:ext cx="109728" cy="1097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3232" y="383133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Fetch API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017520" y="914400"/>
            <a:ext cx="2514600" cy="1143000"/>
          </a:xfrm>
          <a:prstGeom prst="rect">
            <a:avLst/>
          </a:prstGeom>
          <a:solidFill>
            <a:srgbClr val="0F2744"/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017520" y="914400"/>
            <a:ext cx="25146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978408"/>
            <a:ext cx="347472" cy="34747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520440" y="9692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3–4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108960" y="12984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Tools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114800" y="2029968"/>
            <a:ext cx="237744" cy="23774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3017520" y="2331720"/>
            <a:ext cx="2514600" cy="2103120"/>
          </a:xfrm>
          <a:prstGeom prst="rect">
            <a:avLst/>
          </a:prstGeom>
          <a:solidFill>
            <a:srgbClr val="162E52"/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3182112" y="245059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364992" y="24048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 / C#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3182112" y="2926080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364992" y="28803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3182112" y="3401568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364992" y="335584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+ Postman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3182112" y="387705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364992" y="383133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Workflows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5669280" y="914400"/>
            <a:ext cx="2514600" cy="1143000"/>
          </a:xfrm>
          <a:prstGeom prst="rect">
            <a:avLst/>
          </a:prstGeom>
          <a:solidFill>
            <a:srgbClr val="0F2744"/>
          </a:solidFill>
          <a:ln w="12700">
            <a:solidFill>
              <a:srgbClr val="DD0031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5669280" y="914400"/>
            <a:ext cx="2514600" cy="36576"/>
          </a:xfrm>
          <a:prstGeom prst="rect">
            <a:avLst/>
          </a:prstGeom>
          <a:solidFill>
            <a:srgbClr val="DD0031"/>
          </a:solidFill>
          <a:ln w="12700">
            <a:solidFill>
              <a:srgbClr val="DD0031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978408"/>
            <a:ext cx="347472" cy="347472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172200" y="9692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D0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5–6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5760720" y="12984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+ TypeScript</a:t>
            </a:r>
            <a:endParaRPr lang="en-US" sz="1150" dirty="0"/>
          </a:p>
        </p:txBody>
      </p:sp>
      <p:sp>
        <p:nvSpPr>
          <p:cNvPr id="41" name="Shape 36"/>
          <p:cNvSpPr/>
          <p:nvPr/>
        </p:nvSpPr>
        <p:spPr>
          <a:xfrm>
            <a:off x="6766560" y="2029968"/>
            <a:ext cx="237744" cy="237744"/>
          </a:xfrm>
          <a:prstGeom prst="ellipse">
            <a:avLst/>
          </a:prstGeom>
          <a:solidFill>
            <a:srgbClr val="DD0031"/>
          </a:solidFill>
          <a:ln w="12700">
            <a:solidFill>
              <a:srgbClr val="DD00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5669280" y="2331720"/>
            <a:ext cx="2514600" cy="2103120"/>
          </a:xfrm>
          <a:prstGeom prst="rect">
            <a:avLst/>
          </a:prstGeom>
          <a:solidFill>
            <a:srgbClr val="162E52"/>
          </a:solidFill>
          <a:ln w="12700">
            <a:solidFill>
              <a:srgbClr val="DD0031">
                <a:alpha val="30000"/>
              </a:srgbClr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5833872" y="2450592"/>
            <a:ext cx="109728" cy="109728"/>
          </a:xfrm>
          <a:prstGeom prst="ellipse">
            <a:avLst/>
          </a:prstGeom>
          <a:solidFill>
            <a:srgbClr val="DD0031"/>
          </a:solidFill>
          <a:ln w="12700">
            <a:solidFill>
              <a:srgbClr val="DD0031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6016752" y="24048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Comps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5833872" y="2926080"/>
            <a:ext cx="109728" cy="109728"/>
          </a:xfrm>
          <a:prstGeom prst="ellipse">
            <a:avLst/>
          </a:prstGeom>
          <a:solidFill>
            <a:srgbClr val="DD0031"/>
          </a:solidFill>
          <a:ln w="12700">
            <a:solidFill>
              <a:srgbClr val="DD0031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6016752" y="28803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/ Computed</a:t>
            </a:r>
            <a:endParaRPr lang="en-US" sz="1100" dirty="0"/>
          </a:p>
        </p:txBody>
      </p:sp>
      <p:sp>
        <p:nvSpPr>
          <p:cNvPr id="47" name="Shape 42"/>
          <p:cNvSpPr/>
          <p:nvPr/>
        </p:nvSpPr>
        <p:spPr>
          <a:xfrm>
            <a:off x="5833872" y="3401568"/>
            <a:ext cx="109728" cy="109728"/>
          </a:xfrm>
          <a:prstGeom prst="ellipse">
            <a:avLst/>
          </a:prstGeom>
          <a:solidFill>
            <a:srgbClr val="DD0031"/>
          </a:solidFill>
          <a:ln w="12700">
            <a:solidFill>
              <a:srgbClr val="DD0031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6016752" y="335584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Forms</a:t>
            </a:r>
            <a:endParaRPr lang="en-US" sz="1100" dirty="0"/>
          </a:p>
        </p:txBody>
      </p:sp>
      <p:sp>
        <p:nvSpPr>
          <p:cNvPr id="49" name="Shape 44"/>
          <p:cNvSpPr/>
          <p:nvPr/>
        </p:nvSpPr>
        <p:spPr>
          <a:xfrm>
            <a:off x="5833872" y="3877056"/>
            <a:ext cx="109728" cy="109728"/>
          </a:xfrm>
          <a:prstGeom prst="ellipse">
            <a:avLst/>
          </a:prstGeom>
          <a:solidFill>
            <a:srgbClr val="DD0031"/>
          </a:solidFill>
          <a:ln w="12700">
            <a:solidFill>
              <a:srgbClr val="DD0031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6016752" y="383133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Guards</a:t>
            </a:r>
            <a:endParaRPr lang="en-US" sz="1100" dirty="0"/>
          </a:p>
        </p:txBody>
      </p:sp>
      <p:sp>
        <p:nvSpPr>
          <p:cNvPr id="51" name="Shape 46"/>
          <p:cNvSpPr/>
          <p:nvPr/>
        </p:nvSpPr>
        <p:spPr>
          <a:xfrm>
            <a:off x="8321040" y="914400"/>
            <a:ext cx="2514600" cy="1143000"/>
          </a:xfrm>
          <a:prstGeom prst="rect">
            <a:avLst/>
          </a:prstGeom>
          <a:solidFill>
            <a:srgbClr val="0F2744"/>
          </a:solidFill>
          <a:ln w="12700">
            <a:solidFill>
              <a:srgbClr val="00D4C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52" name="Shape 47"/>
          <p:cNvSpPr/>
          <p:nvPr/>
        </p:nvSpPr>
        <p:spPr>
          <a:xfrm>
            <a:off x="8321040" y="914400"/>
            <a:ext cx="2514600" cy="36576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pic>
        <p:nvPicPr>
          <p:cNvPr id="5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978408"/>
            <a:ext cx="347472" cy="347472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8823960" y="9692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7–15</a:t>
            </a:r>
            <a:endParaRPr lang="en-US" sz="1000" dirty="0"/>
          </a:p>
        </p:txBody>
      </p:sp>
      <p:sp>
        <p:nvSpPr>
          <p:cNvPr id="55" name="Text 49"/>
          <p:cNvSpPr/>
          <p:nvPr/>
        </p:nvSpPr>
        <p:spPr>
          <a:xfrm>
            <a:off x="8412480" y="12984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WellTrack</a:t>
            </a:r>
            <a:endParaRPr lang="en-US" sz="1150" dirty="0"/>
          </a:p>
        </p:txBody>
      </p:sp>
      <p:sp>
        <p:nvSpPr>
          <p:cNvPr id="56" name="Shape 50"/>
          <p:cNvSpPr/>
          <p:nvPr/>
        </p:nvSpPr>
        <p:spPr>
          <a:xfrm>
            <a:off x="9418320" y="2029968"/>
            <a:ext cx="237744" cy="237744"/>
          </a:xfrm>
          <a:prstGeom prst="ellipse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57" name="Shape 51"/>
          <p:cNvSpPr/>
          <p:nvPr/>
        </p:nvSpPr>
        <p:spPr>
          <a:xfrm>
            <a:off x="8321040" y="2331720"/>
            <a:ext cx="2514600" cy="2103120"/>
          </a:xfrm>
          <a:prstGeom prst="rect">
            <a:avLst/>
          </a:prstGeom>
          <a:solidFill>
            <a:srgbClr val="162E52"/>
          </a:solidFill>
          <a:ln w="12700">
            <a:solidFill>
              <a:srgbClr val="00D4C8">
                <a:alpha val="30000"/>
              </a:srgbClr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8485632" y="2450592"/>
            <a:ext cx="109728" cy="109728"/>
          </a:xfrm>
          <a:prstGeom prst="ellipse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59" name="Text 53"/>
          <p:cNvSpPr/>
          <p:nvPr/>
        </p:nvSpPr>
        <p:spPr>
          <a:xfrm>
            <a:off x="8668512" y="24048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Microservices</a:t>
            </a:r>
            <a:endParaRPr lang="en-US" sz="1100" dirty="0"/>
          </a:p>
        </p:txBody>
      </p:sp>
      <p:sp>
        <p:nvSpPr>
          <p:cNvPr id="60" name="Shape 54"/>
          <p:cNvSpPr/>
          <p:nvPr/>
        </p:nvSpPr>
        <p:spPr>
          <a:xfrm>
            <a:off x="8485632" y="2926080"/>
            <a:ext cx="109728" cy="109728"/>
          </a:xfrm>
          <a:prstGeom prst="ellipse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61" name="Text 55"/>
          <p:cNvSpPr/>
          <p:nvPr/>
        </p:nvSpPr>
        <p:spPr>
          <a:xfrm>
            <a:off x="8668512" y="28803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Ocelot Gateway</a:t>
            </a:r>
            <a:endParaRPr lang="en-US" sz="1100" dirty="0"/>
          </a:p>
        </p:txBody>
      </p:sp>
      <p:sp>
        <p:nvSpPr>
          <p:cNvPr id="62" name="Shape 56"/>
          <p:cNvSpPr/>
          <p:nvPr/>
        </p:nvSpPr>
        <p:spPr>
          <a:xfrm>
            <a:off x="8485632" y="3401568"/>
            <a:ext cx="109728" cy="109728"/>
          </a:xfrm>
          <a:prstGeom prst="ellipse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63" name="Text 57"/>
          <p:cNvSpPr/>
          <p:nvPr/>
        </p:nvSpPr>
        <p:spPr>
          <a:xfrm>
            <a:off x="8668512" y="335584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Module</a:t>
            </a:r>
            <a:endParaRPr lang="en-US" sz="1100" dirty="0"/>
          </a:p>
        </p:txBody>
      </p:sp>
      <p:sp>
        <p:nvSpPr>
          <p:cNvPr id="64" name="Shape 58"/>
          <p:cNvSpPr/>
          <p:nvPr/>
        </p:nvSpPr>
        <p:spPr>
          <a:xfrm>
            <a:off x="8485632" y="3877056"/>
            <a:ext cx="109728" cy="109728"/>
          </a:xfrm>
          <a:prstGeom prst="ellipse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65" name="Text 59"/>
          <p:cNvSpPr/>
          <p:nvPr/>
        </p:nvSpPr>
        <p:spPr>
          <a:xfrm>
            <a:off x="8668512" y="383133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</a:t>
            </a:r>
            <a:endParaRPr lang="en-US" sz="1100" dirty="0"/>
          </a:p>
        </p:txBody>
      </p:sp>
      <p:sp>
        <p:nvSpPr>
          <p:cNvPr id="66" name="Shape 60"/>
          <p:cNvSpPr/>
          <p:nvPr/>
        </p:nvSpPr>
        <p:spPr>
          <a:xfrm>
            <a:off x="548640" y="4617720"/>
            <a:ext cx="1965960" cy="914400"/>
          </a:xfrm>
          <a:prstGeom prst="rect">
            <a:avLst/>
          </a:prstGeom>
          <a:solidFill>
            <a:srgbClr val="0F2744"/>
          </a:solidFill>
          <a:ln w="12700">
            <a:solidFill>
              <a:srgbClr val="00D4C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7" name="Text 61"/>
          <p:cNvSpPr/>
          <p:nvPr/>
        </p:nvSpPr>
        <p:spPr>
          <a:xfrm>
            <a:off x="548640" y="46634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200" dirty="0"/>
          </a:p>
        </p:txBody>
      </p:sp>
      <p:sp>
        <p:nvSpPr>
          <p:cNvPr id="68" name="Text 62"/>
          <p:cNvSpPr/>
          <p:nvPr/>
        </p:nvSpPr>
        <p:spPr>
          <a:xfrm>
            <a:off x="548640" y="5120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100" dirty="0"/>
          </a:p>
        </p:txBody>
      </p:sp>
      <p:sp>
        <p:nvSpPr>
          <p:cNvPr id="69" name="Shape 63"/>
          <p:cNvSpPr/>
          <p:nvPr/>
        </p:nvSpPr>
        <p:spPr>
          <a:xfrm>
            <a:off x="2779776" y="4617720"/>
            <a:ext cx="1965960" cy="914400"/>
          </a:xfrm>
          <a:prstGeom prst="rect">
            <a:avLst/>
          </a:prstGeom>
          <a:solidFill>
            <a:srgbClr val="0F2744"/>
          </a:solidFill>
          <a:ln w="12700">
            <a:solidFill>
              <a:srgbClr val="FF6B35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70" name="Text 64"/>
          <p:cNvSpPr/>
          <p:nvPr/>
        </p:nvSpPr>
        <p:spPr>
          <a:xfrm>
            <a:off x="2779776" y="46634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71" name="Text 65"/>
          <p:cNvSpPr/>
          <p:nvPr/>
        </p:nvSpPr>
        <p:spPr>
          <a:xfrm>
            <a:off x="2779776" y="5120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100" dirty="0"/>
          </a:p>
        </p:txBody>
      </p:sp>
      <p:sp>
        <p:nvSpPr>
          <p:cNvPr id="72" name="Shape 66"/>
          <p:cNvSpPr/>
          <p:nvPr/>
        </p:nvSpPr>
        <p:spPr>
          <a:xfrm>
            <a:off x="5010912" y="4617720"/>
            <a:ext cx="1965960" cy="914400"/>
          </a:xfrm>
          <a:prstGeom prst="rect">
            <a:avLst/>
          </a:prstGeom>
          <a:solidFill>
            <a:srgbClr val="0F2744"/>
          </a:solidFill>
          <a:ln w="12700">
            <a:solidFill>
              <a:srgbClr val="A855F7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73" name="Text 67"/>
          <p:cNvSpPr/>
          <p:nvPr/>
        </p:nvSpPr>
        <p:spPr>
          <a:xfrm>
            <a:off x="5010912" y="46634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74" name="Text 68"/>
          <p:cNvSpPr/>
          <p:nvPr/>
        </p:nvSpPr>
        <p:spPr>
          <a:xfrm>
            <a:off x="5010912" y="5120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100" dirty="0"/>
          </a:p>
        </p:txBody>
      </p:sp>
      <p:sp>
        <p:nvSpPr>
          <p:cNvPr id="75" name="Shape 69"/>
          <p:cNvSpPr/>
          <p:nvPr/>
        </p:nvSpPr>
        <p:spPr>
          <a:xfrm>
            <a:off x="7242048" y="4617720"/>
            <a:ext cx="1965960" cy="914400"/>
          </a:xfrm>
          <a:prstGeom prst="rect">
            <a:avLst/>
          </a:prstGeom>
          <a:solidFill>
            <a:srgbClr val="0F2744"/>
          </a:solidFill>
          <a:ln w="12700">
            <a:solidFill>
              <a:srgbClr val="EAB30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76" name="Text 70"/>
          <p:cNvSpPr/>
          <p:nvPr/>
        </p:nvSpPr>
        <p:spPr>
          <a:xfrm>
            <a:off x="7242048" y="46634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77" name="Text 71"/>
          <p:cNvSpPr/>
          <p:nvPr/>
        </p:nvSpPr>
        <p:spPr>
          <a:xfrm>
            <a:off x="7242048" y="5120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APIs</a:t>
            </a:r>
            <a:endParaRPr lang="en-US" sz="1100" dirty="0"/>
          </a:p>
        </p:txBody>
      </p:sp>
      <p:sp>
        <p:nvSpPr>
          <p:cNvPr id="78" name="Shape 72"/>
          <p:cNvSpPr/>
          <p:nvPr/>
        </p:nvSpPr>
        <p:spPr>
          <a:xfrm>
            <a:off x="9473184" y="4617720"/>
            <a:ext cx="1965960" cy="914400"/>
          </a:xfrm>
          <a:prstGeom prst="rect">
            <a:avLst/>
          </a:prstGeom>
          <a:solidFill>
            <a:srgbClr val="0F2744"/>
          </a:solidFill>
          <a:ln w="12700">
            <a:solidFill>
              <a:srgbClr val="22C55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79" name="Text 73"/>
          <p:cNvSpPr/>
          <p:nvPr/>
        </p:nvSpPr>
        <p:spPr>
          <a:xfrm>
            <a:off x="9473184" y="46634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80" name="Text 74"/>
          <p:cNvSpPr/>
          <p:nvPr/>
        </p:nvSpPr>
        <p:spPr>
          <a:xfrm>
            <a:off x="9473184" y="5120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Web Fundamentals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  ·  Building the foundation of modern web development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3657600" cy="5120640"/>
          </a:xfrm>
          <a:prstGeom prst="rect">
            <a:avLst/>
          </a:prstGeom>
          <a:solidFill>
            <a:srgbClr val="0F2744"/>
          </a:solidFill>
          <a:ln w="12700">
            <a:solidFill>
              <a:srgbClr val="FF6B35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96112"/>
            <a:ext cx="36576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1640" y="1051560"/>
            <a:ext cx="914400" cy="914400"/>
          </a:xfrm>
          <a:prstGeom prst="ellipse">
            <a:avLst/>
          </a:prstGeom>
          <a:solidFill>
            <a:srgbClr val="FF6B35">
              <a:alpha val="18000"/>
            </a:srgbClr>
          </a:solidFill>
          <a:ln w="12700">
            <a:solidFill>
              <a:srgbClr val="FF6B35">
                <a:alpha val="5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1368" y="1161288"/>
            <a:ext cx="694944" cy="6949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1214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128016" cy="12801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261518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elements (header, section, article, nav, footer)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3328416"/>
            <a:ext cx="128016" cy="12801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" y="3273552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Forms, input types, validation attributes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3986784"/>
            <a:ext cx="128016" cy="12801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8952" y="393192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multimedia embedding (video/audio)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4645152"/>
            <a:ext cx="128016" cy="12801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8952" y="4590288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attributes (ARIA roles)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5303520"/>
            <a:ext cx="128016" cy="12801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" y="5248656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tags and SEO structure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160520" y="896112"/>
            <a:ext cx="3657600" cy="5120640"/>
          </a:xfrm>
          <a:prstGeom prst="rect">
            <a:avLst/>
          </a:prstGeom>
          <a:solidFill>
            <a:srgbClr val="0F2744"/>
          </a:solidFill>
          <a:ln w="12700">
            <a:solidFill>
              <a:srgbClr val="264DE4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160520" y="896112"/>
            <a:ext cx="3657600" cy="45720"/>
          </a:xfrm>
          <a:prstGeom prst="rect">
            <a:avLst/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532120" y="1051560"/>
            <a:ext cx="914400" cy="914400"/>
          </a:xfrm>
          <a:prstGeom prst="ellipse">
            <a:avLst/>
          </a:prstGeom>
          <a:solidFill>
            <a:srgbClr val="264DE4">
              <a:alpha val="18000"/>
            </a:srgbClr>
          </a:solidFill>
          <a:ln w="12700">
            <a:solidFill>
              <a:srgbClr val="264DE4">
                <a:alpha val="50000"/>
              </a:srgbClr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1161288"/>
            <a:ext cx="694944" cy="69494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251960" y="21214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4389120" y="2670048"/>
            <a:ext cx="128016" cy="128016"/>
          </a:xfrm>
          <a:prstGeom prst="ellipse">
            <a:avLst/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99432" y="261518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and CSS Grid layout systems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389120" y="3328416"/>
            <a:ext cx="128016" cy="128016"/>
          </a:xfrm>
          <a:prstGeom prst="ellipse">
            <a:avLst/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599432" y="3273552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 — responsive breakpoints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4389120" y="3986784"/>
            <a:ext cx="128016" cy="128016"/>
          </a:xfrm>
          <a:prstGeom prst="ellipse">
            <a:avLst/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599432" y="393192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Variables and custom properties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4389120" y="4645152"/>
            <a:ext cx="128016" cy="128016"/>
          </a:xfrm>
          <a:prstGeom prst="ellipse">
            <a:avLst/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599432" y="4590288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Transitions, keyframe animations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4389120" y="5303520"/>
            <a:ext cx="128016" cy="128016"/>
          </a:xfrm>
          <a:prstGeom prst="ellipse">
            <a:avLst/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599432" y="5248656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Pseudo-classes (:hover, :nth-child, :focus)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8001000" y="896112"/>
            <a:ext cx="3657600" cy="5120640"/>
          </a:xfrm>
          <a:prstGeom prst="rect">
            <a:avLst/>
          </a:prstGeom>
          <a:solidFill>
            <a:srgbClr val="0F2744"/>
          </a:solidFill>
          <a:ln w="12700">
            <a:solidFill>
              <a:srgbClr val="F0DB4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8001000" y="896112"/>
            <a:ext cx="3657600" cy="45720"/>
          </a:xfrm>
          <a:prstGeom prst="rect">
            <a:avLst/>
          </a:prstGeom>
          <a:solidFill>
            <a:srgbClr val="F0DB4F"/>
          </a:solidFill>
          <a:ln w="12700">
            <a:solidFill>
              <a:srgbClr val="F0DB4F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9372600" y="1051560"/>
            <a:ext cx="914400" cy="914400"/>
          </a:xfrm>
          <a:prstGeom prst="ellipse">
            <a:avLst/>
          </a:prstGeom>
          <a:solidFill>
            <a:srgbClr val="F0DB4F">
              <a:alpha val="18000"/>
            </a:srgbClr>
          </a:solidFill>
          <a:ln w="12700">
            <a:solidFill>
              <a:srgbClr val="F0DB4F">
                <a:alpha val="50000"/>
              </a:srgbClr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2328" y="1161288"/>
            <a:ext cx="694944" cy="694944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8092440" y="21214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ES6+</a:t>
            </a:r>
            <a:endParaRPr lang="en-US" sz="1600" dirty="0"/>
          </a:p>
        </p:txBody>
      </p:sp>
      <p:sp>
        <p:nvSpPr>
          <p:cNvPr id="40" name="Shape 35"/>
          <p:cNvSpPr/>
          <p:nvPr/>
        </p:nvSpPr>
        <p:spPr>
          <a:xfrm>
            <a:off x="8229600" y="2670048"/>
            <a:ext cx="128016" cy="128016"/>
          </a:xfrm>
          <a:prstGeom prst="ellipse">
            <a:avLst/>
          </a:prstGeom>
          <a:solidFill>
            <a:srgbClr val="F0DB4F"/>
          </a:solidFill>
          <a:ln w="12700">
            <a:solidFill>
              <a:srgbClr val="F0DB4F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8439912" y="2615184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let/const, arrow functions, destructuring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8229600" y="3328416"/>
            <a:ext cx="128016" cy="128016"/>
          </a:xfrm>
          <a:prstGeom prst="ellipse">
            <a:avLst/>
          </a:prstGeom>
          <a:solidFill>
            <a:srgbClr val="F0DB4F"/>
          </a:solidFill>
          <a:ln w="12700">
            <a:solidFill>
              <a:srgbClr val="F0DB4F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8439912" y="3273552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Promises, async/await, Fetch API</a:t>
            </a:r>
            <a:endParaRPr lang="en-US" sz="1050" dirty="0"/>
          </a:p>
        </p:txBody>
      </p:sp>
      <p:sp>
        <p:nvSpPr>
          <p:cNvPr id="44" name="Shape 39"/>
          <p:cNvSpPr/>
          <p:nvPr/>
        </p:nvSpPr>
        <p:spPr>
          <a:xfrm>
            <a:off x="8229600" y="3986784"/>
            <a:ext cx="128016" cy="128016"/>
          </a:xfrm>
          <a:prstGeom prst="ellipse">
            <a:avLst/>
          </a:prstGeom>
          <a:solidFill>
            <a:srgbClr val="F0DB4F"/>
          </a:solidFill>
          <a:ln w="12700">
            <a:solidFill>
              <a:srgbClr val="F0DB4F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439912" y="393192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manipulation and event handling</a:t>
            </a:r>
            <a:endParaRPr lang="en-US" sz="1050" dirty="0"/>
          </a:p>
        </p:txBody>
      </p:sp>
      <p:sp>
        <p:nvSpPr>
          <p:cNvPr id="46" name="Shape 41"/>
          <p:cNvSpPr/>
          <p:nvPr/>
        </p:nvSpPr>
        <p:spPr>
          <a:xfrm>
            <a:off x="8229600" y="4645152"/>
            <a:ext cx="128016" cy="128016"/>
          </a:xfrm>
          <a:prstGeom prst="ellipse">
            <a:avLst/>
          </a:prstGeom>
          <a:solidFill>
            <a:srgbClr val="F0DB4F"/>
          </a:solidFill>
          <a:ln w="12700">
            <a:solidFill>
              <a:srgbClr val="F0DB4F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8439912" y="4590288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 Modules (import/export)</a:t>
            </a:r>
            <a:endParaRPr lang="en-US" sz="1050" dirty="0"/>
          </a:p>
        </p:txBody>
      </p:sp>
      <p:sp>
        <p:nvSpPr>
          <p:cNvPr id="48" name="Shape 43"/>
          <p:cNvSpPr/>
          <p:nvPr/>
        </p:nvSpPr>
        <p:spPr>
          <a:xfrm>
            <a:off x="8229600" y="5303520"/>
            <a:ext cx="128016" cy="128016"/>
          </a:xfrm>
          <a:prstGeom prst="ellipse">
            <a:avLst/>
          </a:prstGeom>
          <a:solidFill>
            <a:srgbClr val="F0DB4F"/>
          </a:solidFill>
          <a:ln w="12700">
            <a:solidFill>
              <a:srgbClr val="F0DB4F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8439912" y="5248656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(try/catch, custom errors)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2743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7432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Microservices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28600" y="1828800"/>
            <a:ext cx="3749040" cy="804672"/>
          </a:xfrm>
          <a:prstGeom prst="rect">
            <a:avLst/>
          </a:prstGeom>
          <a:solidFill>
            <a:srgbClr val="122448"/>
          </a:solidFill>
          <a:ln w="12700">
            <a:solidFill>
              <a:srgbClr val="00D4C8">
                <a:alpha val="4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" y="1828800"/>
            <a:ext cx="64008" cy="804672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18653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Layer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84048" y="2148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routing, model binding, response shaping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28600" y="2880360"/>
            <a:ext cx="3749040" cy="804672"/>
          </a:xfrm>
          <a:prstGeom prst="rect">
            <a:avLst/>
          </a:prstGeom>
          <a:solidFill>
            <a:srgbClr val="122448"/>
          </a:solidFill>
          <a:ln w="12700">
            <a:solidFill>
              <a:srgbClr val="FF6B35">
                <a:alpha val="45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28600" y="2880360"/>
            <a:ext cx="64008" cy="8046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" y="29169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84048" y="3200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logic, domain operations, orchestration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28600" y="3931920"/>
            <a:ext cx="3749040" cy="804672"/>
          </a:xfrm>
          <a:prstGeom prst="rect">
            <a:avLst/>
          </a:prstGeom>
          <a:solidFill>
            <a:srgbClr val="122448"/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28600" y="3931920"/>
            <a:ext cx="64008" cy="8046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4048" y="39684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Layer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84048" y="42519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abstraction, IRepository&lt;T&gt; pattern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28600" y="4983480"/>
            <a:ext cx="3749040" cy="804672"/>
          </a:xfrm>
          <a:prstGeom prst="rect">
            <a:avLst/>
          </a:prstGeom>
          <a:solidFill>
            <a:srgbClr val="122448"/>
          </a:solidFill>
          <a:ln w="12700">
            <a:solidFill>
              <a:srgbClr val="EAB308">
                <a:alpha val="45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28600" y="4983480"/>
            <a:ext cx="64008" cy="80467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5020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/ DB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384048" y="53035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First, Fluent API, migrations, SQL Server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572000" y="18288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Learned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4572000" y="822960"/>
            <a:ext cx="3520440" cy="1325880"/>
          </a:xfrm>
          <a:prstGeom prst="rect">
            <a:avLst/>
          </a:prstGeom>
          <a:solidFill>
            <a:srgbClr val="162E52"/>
          </a:solidFill>
          <a:ln w="12700">
            <a:solidFill>
              <a:srgbClr val="00D4C8">
                <a:alpha val="28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932688"/>
            <a:ext cx="438912" cy="43891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285232" y="914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736592" y="142646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HmacSha256 · 8hr expiry · Claims: sub, email, role, name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 with salt rounds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8321040" y="822960"/>
            <a:ext cx="3520440" cy="1325880"/>
          </a:xfrm>
          <a:prstGeom prst="rect">
            <a:avLst/>
          </a:prstGeom>
          <a:solidFill>
            <a:srgbClr val="162E52"/>
          </a:solidFill>
          <a:ln w="12700">
            <a:solidFill>
              <a:srgbClr val="00D4C8">
                <a:alpha val="28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932688"/>
            <a:ext cx="438912" cy="43891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034272" y="914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Design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8485632" y="142646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verbs · Route attributes · Model binding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annotations · CORS · appsettings.json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4572000" y="2377440"/>
            <a:ext cx="3520440" cy="1325880"/>
          </a:xfrm>
          <a:prstGeom prst="rect">
            <a:avLst/>
          </a:prstGeom>
          <a:solidFill>
            <a:srgbClr val="162E52"/>
          </a:solidFill>
          <a:ln w="12700">
            <a:solidFill>
              <a:srgbClr val="00D4C8">
                <a:alpha val="28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2487168"/>
            <a:ext cx="438912" cy="43891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285232" y="2468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4736592" y="298094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IServiceCollection · Singleton, Scoped, Transient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pipeline · Startup configuration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8321040" y="2377440"/>
            <a:ext cx="3520440" cy="1325880"/>
          </a:xfrm>
          <a:prstGeom prst="rect">
            <a:avLst/>
          </a:prstGeom>
          <a:solidFill>
            <a:srgbClr val="162E52"/>
          </a:solidFill>
          <a:ln w="12700">
            <a:solidFill>
              <a:srgbClr val="00D4C8">
                <a:alpha val="28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2487168"/>
            <a:ext cx="438912" cy="43891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034272" y="2468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Code First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8485632" y="298094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API · Add-Migration · Update-Database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· Cascade delete · db.Migrate()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4572000" y="3931920"/>
            <a:ext cx="3520440" cy="1325880"/>
          </a:xfrm>
          <a:prstGeom prst="rect">
            <a:avLst/>
          </a:prstGeom>
          <a:solidFill>
            <a:srgbClr val="162E52"/>
          </a:solidFill>
          <a:ln w="12700">
            <a:solidFill>
              <a:srgbClr val="00D4C8">
                <a:alpha val="28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592" y="4041648"/>
            <a:ext cx="438912" cy="43891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285232" y="40233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Ocelot API Gateway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4736592" y="453542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ocelot.json · Upstream/Downstream routing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validation at gateway · Load balancing</a:t>
            </a:r>
            <a:endParaRPr lang="en-US" sz="950" dirty="0"/>
          </a:p>
        </p:txBody>
      </p:sp>
      <p:sp>
        <p:nvSpPr>
          <p:cNvPr id="43" name="Shape 35"/>
          <p:cNvSpPr/>
          <p:nvPr/>
        </p:nvSpPr>
        <p:spPr>
          <a:xfrm>
            <a:off x="8321040" y="3931920"/>
            <a:ext cx="3520440" cy="1325880"/>
          </a:xfrm>
          <a:prstGeom prst="rect">
            <a:avLst/>
          </a:prstGeom>
          <a:solidFill>
            <a:srgbClr val="162E52"/>
          </a:solidFill>
          <a:ln w="12700">
            <a:solidFill>
              <a:srgbClr val="00D4C8">
                <a:alpha val="28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5632" y="4041648"/>
            <a:ext cx="438912" cy="438912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9034272" y="40233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SharedKernel Library</a:t>
            </a:r>
            <a:endParaRPr lang="en-US" sz="1200" dirty="0"/>
          </a:p>
        </p:txBody>
      </p:sp>
      <p:sp>
        <p:nvSpPr>
          <p:cNvPr id="46" name="Text 37"/>
          <p:cNvSpPr/>
          <p:nvPr/>
        </p:nvSpPr>
        <p:spPr>
          <a:xfrm>
            <a:off x="8485632" y="453542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ApiResponse&lt;T&gt; · PagedResult&lt;T&gt; · BaseEntity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StatusType enum · IRepository&lt;T&gt; interface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"/>
            <a:ext cx="594360" cy="59436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91440"/>
            <a:ext cx="594360" cy="59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37360" y="137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21 + TypeScript — Frontend Development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274320" y="914400"/>
            <a:ext cx="2743200" cy="2194560"/>
          </a:xfrm>
          <a:prstGeom prst="rect">
            <a:avLst/>
          </a:prstGeom>
          <a:solidFill>
            <a:srgbClr val="0F2744"/>
          </a:solidFill>
          <a:ln w="12700">
            <a:solidFill>
              <a:srgbClr val="DD0031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274320" y="914400"/>
            <a:ext cx="2743200" cy="45720"/>
          </a:xfrm>
          <a:prstGeom prst="rect">
            <a:avLst/>
          </a:prstGeom>
          <a:solidFill>
            <a:srgbClr val="DD0031"/>
          </a:solidFill>
          <a:ln w="12700">
            <a:solidFill>
              <a:srgbClr val="DD0031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384048" y="1051560"/>
            <a:ext cx="640080" cy="640080"/>
          </a:xfrm>
          <a:prstGeom prst="ellipse">
            <a:avLst/>
          </a:prstGeom>
          <a:solidFill>
            <a:srgbClr val="DD0031">
              <a:alpha val="18000"/>
            </a:srgbClr>
          </a:solidFill>
          <a:ln w="12700">
            <a:solidFill>
              <a:srgbClr val="DD0031">
                <a:alpha val="45000"/>
              </a:srgbClr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1115568"/>
            <a:ext cx="512064" cy="5120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5568" y="1097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Components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411480" y="1828800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NgModule boilerplate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import-based architecture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Reusable, lazy-loadable components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3218688" y="914400"/>
            <a:ext cx="2743200" cy="2194560"/>
          </a:xfrm>
          <a:prstGeom prst="rect">
            <a:avLst/>
          </a:prstGeom>
          <a:solidFill>
            <a:srgbClr val="0F2744"/>
          </a:solidFill>
          <a:ln w="12700">
            <a:solidFill>
              <a:srgbClr val="3178C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3218688" y="914400"/>
            <a:ext cx="2743200" cy="45720"/>
          </a:xfrm>
          <a:prstGeom prst="rect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3328416" y="1051560"/>
            <a:ext cx="640080" cy="640080"/>
          </a:xfrm>
          <a:prstGeom prst="ellipse">
            <a:avLst/>
          </a:prstGeom>
          <a:solidFill>
            <a:srgbClr val="3178C6">
              <a:alpha val="18000"/>
            </a:srgbClr>
          </a:solidFill>
          <a:ln w="12700">
            <a:solidFill>
              <a:srgbClr val="3178C6">
                <a:alpha val="4500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424" y="1115568"/>
            <a:ext cx="512064" cy="51206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059936" y="1097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5.x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3355848" y="1828800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Interface-typed API models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&amp; enumerations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safety across codebase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6163056" y="914400"/>
            <a:ext cx="2743200" cy="2194560"/>
          </a:xfrm>
          <a:prstGeom prst="rect">
            <a:avLst/>
          </a:prstGeom>
          <a:solidFill>
            <a:srgbClr val="0F2744"/>
          </a:solidFill>
          <a:ln w="12700">
            <a:solidFill>
              <a:srgbClr val="00D4C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163056" y="914400"/>
            <a:ext cx="2743200" cy="4572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272784" y="1051560"/>
            <a:ext cx="640080" cy="640080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45000"/>
              </a:srgbClr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1115568"/>
            <a:ext cx="512064" cy="51206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004304" y="1097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Signals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6300216" y="1828800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signal() for reactive state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computed() for derived values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effect() for side effects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9107424" y="914400"/>
            <a:ext cx="2743200" cy="2194560"/>
          </a:xfrm>
          <a:prstGeom prst="rect">
            <a:avLst/>
          </a:prstGeom>
          <a:solidFill>
            <a:srgbClr val="0F2744"/>
          </a:solidFill>
          <a:ln w="12700">
            <a:solidFill>
              <a:srgbClr val="FF6B35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9107424" y="914400"/>
            <a:ext cx="27432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9217152" y="1051560"/>
            <a:ext cx="640080" cy="640080"/>
          </a:xfrm>
          <a:prstGeom prst="ellipse">
            <a:avLst/>
          </a:prstGeom>
          <a:solidFill>
            <a:srgbClr val="FF6B35">
              <a:alpha val="18000"/>
            </a:srgbClr>
          </a:solidFill>
          <a:ln w="12700">
            <a:solidFill>
              <a:srgbClr val="FF6B35">
                <a:alpha val="45000"/>
              </a:srgbClr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1115568"/>
            <a:ext cx="512064" cy="51206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948672" y="1097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Guards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9244584" y="1828800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authGuard — checks JWT token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roleGuard — checks user role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Redirects on unauthorized access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274320" y="3383280"/>
            <a:ext cx="2743200" cy="2194560"/>
          </a:xfrm>
          <a:prstGeom prst="rect">
            <a:avLst/>
          </a:prstGeom>
          <a:solidFill>
            <a:srgbClr val="0F2744"/>
          </a:solidFill>
          <a:ln w="12700">
            <a:solidFill>
              <a:srgbClr val="A855F7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274320" y="3383280"/>
            <a:ext cx="274320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384048" y="3520440"/>
            <a:ext cx="640080" cy="640080"/>
          </a:xfrm>
          <a:prstGeom prst="ellipse">
            <a:avLst/>
          </a:prstGeom>
          <a:solidFill>
            <a:srgbClr val="A855F7">
              <a:alpha val="18000"/>
            </a:srgbClr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6" y="3584448"/>
            <a:ext cx="512064" cy="51206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115568" y="35661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Interceptor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411480" y="4297680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Auto-attaches Bearer token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every outgoing request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auth header injection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3218688" y="3383280"/>
            <a:ext cx="2743200" cy="2194560"/>
          </a:xfrm>
          <a:prstGeom prst="rect">
            <a:avLst/>
          </a:prstGeom>
          <a:solidFill>
            <a:srgbClr val="0F2744"/>
          </a:solidFill>
          <a:ln w="12700">
            <a:solidFill>
              <a:srgbClr val="EAB30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3218688" y="3383280"/>
            <a:ext cx="2743200" cy="4572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3328416" y="3520440"/>
            <a:ext cx="640080" cy="640080"/>
          </a:xfrm>
          <a:prstGeom prst="ellipse">
            <a:avLst/>
          </a:prstGeom>
          <a:solidFill>
            <a:srgbClr val="EAB308">
              <a:alpha val="18000"/>
            </a:srgbClr>
          </a:solidFill>
          <a:ln w="12700">
            <a:solidFill>
              <a:srgbClr val="EAB308">
                <a:alpha val="45000"/>
              </a:srgbClr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92424" y="3584448"/>
            <a:ext cx="512064" cy="512064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4059936" y="35661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Forms</a:t>
            </a:r>
            <a:endParaRPr lang="en-US" sz="1100" dirty="0"/>
          </a:p>
        </p:txBody>
      </p:sp>
      <p:sp>
        <p:nvSpPr>
          <p:cNvPr id="41" name="Text 31"/>
          <p:cNvSpPr/>
          <p:nvPr/>
        </p:nvSpPr>
        <p:spPr>
          <a:xfrm>
            <a:off x="3355848" y="4297680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FormBuilder &amp; FormGroup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 &amp; cross-field checks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form controls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6163056" y="3383280"/>
            <a:ext cx="2743200" cy="2194560"/>
          </a:xfrm>
          <a:prstGeom prst="rect">
            <a:avLst/>
          </a:prstGeom>
          <a:solidFill>
            <a:srgbClr val="0F2744"/>
          </a:solidFill>
          <a:ln w="12700">
            <a:solidFill>
              <a:srgbClr val="22C55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3" name="Shape 33"/>
          <p:cNvSpPr/>
          <p:nvPr/>
        </p:nvSpPr>
        <p:spPr>
          <a:xfrm>
            <a:off x="6163056" y="3383280"/>
            <a:ext cx="27432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6272784" y="3520440"/>
            <a:ext cx="640080" cy="640080"/>
          </a:xfrm>
          <a:prstGeom prst="ellipse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>
                <a:alpha val="45000"/>
              </a:srgbClr>
            </a:solidFill>
            <a:prstDash val="solid"/>
          </a:ln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6792" y="3584448"/>
            <a:ext cx="512064" cy="512064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7004304" y="35661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forkJoin Parallel Calls</a:t>
            </a:r>
            <a:endParaRPr lang="en-US" sz="1100" dirty="0"/>
          </a:p>
        </p:txBody>
      </p:sp>
      <p:sp>
        <p:nvSpPr>
          <p:cNvPr id="47" name="Text 36"/>
          <p:cNvSpPr/>
          <p:nvPr/>
        </p:nvSpPr>
        <p:spPr>
          <a:xfrm>
            <a:off x="6300216" y="4297680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simultaneous API calls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catchError per call for resilience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takeUntilDestroyed cleanup</a:t>
            </a:r>
            <a:endParaRPr lang="en-US" sz="1000" dirty="0"/>
          </a:p>
        </p:txBody>
      </p:sp>
      <p:sp>
        <p:nvSpPr>
          <p:cNvPr id="48" name="Shape 37"/>
          <p:cNvSpPr/>
          <p:nvPr/>
        </p:nvSpPr>
        <p:spPr>
          <a:xfrm>
            <a:off x="9107424" y="3383280"/>
            <a:ext cx="2743200" cy="2194560"/>
          </a:xfrm>
          <a:prstGeom prst="rect">
            <a:avLst/>
          </a:prstGeom>
          <a:solidFill>
            <a:srgbClr val="0F2744"/>
          </a:solidFill>
          <a:ln w="12700">
            <a:solidFill>
              <a:srgbClr val="FFB347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9" name="Shape 38"/>
          <p:cNvSpPr/>
          <p:nvPr/>
        </p:nvSpPr>
        <p:spPr>
          <a:xfrm>
            <a:off x="9107424" y="3383280"/>
            <a:ext cx="2743200" cy="4572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9217152" y="3520440"/>
            <a:ext cx="640080" cy="640080"/>
          </a:xfrm>
          <a:prstGeom prst="ellipse">
            <a:avLst/>
          </a:prstGeom>
          <a:solidFill>
            <a:srgbClr val="FFB347">
              <a:alpha val="18000"/>
            </a:srgbClr>
          </a:solidFill>
          <a:ln w="12700">
            <a:solidFill>
              <a:srgbClr val="FFB347">
                <a:alpha val="45000"/>
              </a:srgbClr>
            </a:solidFill>
            <a:prstDash val="solid"/>
          </a:ln>
        </p:spPr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1160" y="3584448"/>
            <a:ext cx="512064" cy="512064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9948672" y="35661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Dashboard</a:t>
            </a:r>
            <a:endParaRPr lang="en-US" sz="1100" dirty="0"/>
          </a:p>
        </p:txBody>
      </p:sp>
      <p:sp>
        <p:nvSpPr>
          <p:cNvPr id="53" name="Text 41"/>
          <p:cNvSpPr/>
          <p:nvPr/>
        </p:nvSpPr>
        <p:spPr>
          <a:xfrm>
            <a:off x="9244584" y="4297680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· Trend charts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Role-badge distribution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leaderboard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4980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Architecture — WellTrack System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389120" y="896112"/>
            <a:ext cx="3383280" cy="777240"/>
          </a:xfrm>
          <a:prstGeom prst="rect">
            <a:avLst/>
          </a:prstGeom>
          <a:solidFill>
            <a:srgbClr val="162E52"/>
          </a:solidFill>
          <a:ln w="12700">
            <a:solidFill>
              <a:srgbClr val="DD0031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3712" y="9601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0" y="987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21 SPA — port 4200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120640" y="12618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· Signals · Route Guards · HTTP Interceptor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035040" y="1682496"/>
            <a:ext cx="27432" cy="475488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0" y="1783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657600" y="2176272"/>
            <a:ext cx="4846320" cy="749808"/>
          </a:xfrm>
          <a:prstGeom prst="rect">
            <a:avLst/>
          </a:prstGeom>
          <a:solidFill>
            <a:srgbClr val="1A1060"/>
          </a:solidFill>
          <a:ln w="12700">
            <a:solidFill>
              <a:srgbClr val="FF6B35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2258568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43400" y="2240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Ocelot API Gateway — port 5000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343400" y="25328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Validation · Route Forwarding · Load Balancing · Single Entry Point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1092708" y="2926080"/>
            <a:ext cx="27432" cy="274320"/>
          </a:xfrm>
          <a:prstGeom prst="rect">
            <a:avLst/>
          </a:prstGeom>
          <a:solidFill>
            <a:srgbClr val="00D4C8">
              <a:alpha val="50000"/>
            </a:srgbClr>
          </a:solidFill>
          <a:ln w="12700">
            <a:solidFill>
              <a:srgbClr val="00D4C8">
                <a:alpha val="50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20040" y="3200400"/>
            <a:ext cx="1572768" cy="1691640"/>
          </a:xfrm>
          <a:prstGeom prst="rect">
            <a:avLst/>
          </a:prstGeom>
          <a:solidFill>
            <a:srgbClr val="0F2744"/>
          </a:solidFill>
          <a:ln w="12700">
            <a:solidFill>
              <a:srgbClr val="00D4C8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3200400"/>
            <a:ext cx="1572768" cy="4572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68680" y="3291840"/>
            <a:ext cx="457200" cy="457200"/>
          </a:xfrm>
          <a:prstGeom prst="ellipse">
            <a:avLst/>
          </a:prstGeom>
          <a:solidFill>
            <a:srgbClr val="00D4C8">
              <a:alpha val="20000"/>
            </a:srgbClr>
          </a:solidFill>
          <a:ln w="12700">
            <a:solidFill>
              <a:srgbClr val="00D4C8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3346704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74904" y="384048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374904" y="413308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:5001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374904" y="436168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JWT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· Users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2802636" y="2926080"/>
            <a:ext cx="27432" cy="274320"/>
          </a:xfrm>
          <a:prstGeom prst="rect">
            <a:avLst/>
          </a:prstGeom>
          <a:solidFill>
            <a:srgbClr val="22C55E">
              <a:alpha val="50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2029968" y="3200400"/>
            <a:ext cx="1572768" cy="1691640"/>
          </a:xfrm>
          <a:prstGeom prst="rect">
            <a:avLst/>
          </a:prstGeom>
          <a:solidFill>
            <a:srgbClr val="0F2744"/>
          </a:solidFill>
          <a:ln w="12700">
            <a:solidFill>
              <a:srgbClr val="22C55E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2029968" y="3200400"/>
            <a:ext cx="1572768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2578608" y="3291840"/>
            <a:ext cx="457200" cy="457200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472" y="3346704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084832" y="384048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2084832" y="413308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:5002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2084832" y="436168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· Sched.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4512564" y="2926080"/>
            <a:ext cx="27432" cy="274320"/>
          </a:xfrm>
          <a:prstGeom prst="rect">
            <a:avLst/>
          </a:prstGeom>
          <a:solidFill>
            <a:srgbClr val="EAB308">
              <a:alpha val="50000"/>
            </a:srgbClr>
          </a:solidFill>
          <a:ln w="12700">
            <a:solidFill>
              <a:srgbClr val="EAB308">
                <a:alpha val="50000"/>
              </a:srgbClr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739896" y="3200400"/>
            <a:ext cx="1572768" cy="1691640"/>
          </a:xfrm>
          <a:prstGeom prst="rect">
            <a:avLst/>
          </a:prstGeom>
          <a:solidFill>
            <a:srgbClr val="0F2744"/>
          </a:solidFill>
          <a:ln w="12700">
            <a:solidFill>
              <a:srgbClr val="EAB308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739896" y="3200400"/>
            <a:ext cx="1572768" cy="4572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4288536" y="3291840"/>
            <a:ext cx="457200" cy="457200"/>
          </a:xfrm>
          <a:prstGeom prst="ellipse">
            <a:avLst/>
          </a:prstGeom>
          <a:solidFill>
            <a:srgbClr val="EAB308">
              <a:alpha val="20000"/>
            </a:srgbClr>
          </a:solidFill>
          <a:ln w="12700">
            <a:solidFill>
              <a:srgbClr val="EAB308">
                <a:alpha val="45000"/>
              </a:srgbClr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3346704"/>
            <a:ext cx="347472" cy="34747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3794760" y="384048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</a:t>
            </a:r>
            <a:endParaRPr lang="en-US" sz="1050" dirty="0"/>
          </a:p>
        </p:txBody>
      </p:sp>
      <p:sp>
        <p:nvSpPr>
          <p:cNvPr id="36" name="Text 29"/>
          <p:cNvSpPr/>
          <p:nvPr/>
        </p:nvSpPr>
        <p:spPr>
          <a:xfrm>
            <a:off x="3794760" y="413308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:5003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3794760" y="436168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· Track</a:t>
            </a:r>
            <a:endParaRPr lang="en-US" sz="850" dirty="0"/>
          </a:p>
        </p:txBody>
      </p:sp>
      <p:sp>
        <p:nvSpPr>
          <p:cNvPr id="38" name="Shape 31"/>
          <p:cNvSpPr/>
          <p:nvPr/>
        </p:nvSpPr>
        <p:spPr>
          <a:xfrm>
            <a:off x="6222492" y="2926080"/>
            <a:ext cx="27432" cy="274320"/>
          </a:xfrm>
          <a:prstGeom prst="rect">
            <a:avLst/>
          </a:prstGeom>
          <a:solidFill>
            <a:srgbClr val="F97316">
              <a:alpha val="50000"/>
            </a:srgbClr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5449824" y="3200400"/>
            <a:ext cx="1572768" cy="1691640"/>
          </a:xfrm>
          <a:prstGeom prst="rect">
            <a:avLst/>
          </a:prstGeom>
          <a:solidFill>
            <a:srgbClr val="0F2744"/>
          </a:solidFill>
          <a:ln w="12700">
            <a:solidFill>
              <a:srgbClr val="F97316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5449824" y="3200400"/>
            <a:ext cx="1572768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5998464" y="3291840"/>
            <a:ext cx="457200" cy="457200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>
                <a:alpha val="45000"/>
              </a:srgbClr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3328" y="3346704"/>
            <a:ext cx="347472" cy="347472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5504688" y="384048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050" dirty="0"/>
          </a:p>
        </p:txBody>
      </p:sp>
      <p:sp>
        <p:nvSpPr>
          <p:cNvPr id="44" name="Text 36"/>
          <p:cNvSpPr/>
          <p:nvPr/>
        </p:nvSpPr>
        <p:spPr>
          <a:xfrm>
            <a:off x="5504688" y="413308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:5004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5504688" y="436168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0-100</a:t>
            </a:r>
            <a:endParaRPr lang="en-US" sz="850" dirty="0"/>
          </a:p>
        </p:txBody>
      </p:sp>
      <p:sp>
        <p:nvSpPr>
          <p:cNvPr id="46" name="Shape 38"/>
          <p:cNvSpPr/>
          <p:nvPr/>
        </p:nvSpPr>
        <p:spPr>
          <a:xfrm>
            <a:off x="7932420" y="2926080"/>
            <a:ext cx="27432" cy="274320"/>
          </a:xfrm>
          <a:prstGeom prst="rect">
            <a:avLst/>
          </a:prstGeom>
          <a:solidFill>
            <a:srgbClr val="A855F7">
              <a:alpha val="50000"/>
            </a:srgbClr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7159752" y="3200400"/>
            <a:ext cx="1572768" cy="1691640"/>
          </a:xfrm>
          <a:prstGeom prst="rect">
            <a:avLst/>
          </a:prstGeom>
          <a:solidFill>
            <a:srgbClr val="0F2744"/>
          </a:solidFill>
          <a:ln w="12700">
            <a:solidFill>
              <a:srgbClr val="A855F7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8" name="Shape 40"/>
          <p:cNvSpPr/>
          <p:nvPr/>
        </p:nvSpPr>
        <p:spPr>
          <a:xfrm>
            <a:off x="7159752" y="3200400"/>
            <a:ext cx="1572768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7708392" y="3291840"/>
            <a:ext cx="457200" cy="457200"/>
          </a:xfrm>
          <a:prstGeom prst="ellipse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3256" y="3346704"/>
            <a:ext cx="347472" cy="347472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7214616" y="384048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50" dirty="0"/>
          </a:p>
        </p:txBody>
      </p:sp>
      <p:sp>
        <p:nvSpPr>
          <p:cNvPr id="52" name="Text 43"/>
          <p:cNvSpPr/>
          <p:nvPr/>
        </p:nvSpPr>
        <p:spPr>
          <a:xfrm>
            <a:off x="7214616" y="413308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:5005</a:t>
            </a:r>
            <a:endParaRPr lang="en-US" sz="900" dirty="0"/>
          </a:p>
        </p:txBody>
      </p:sp>
      <p:sp>
        <p:nvSpPr>
          <p:cNvPr id="53" name="Text 44"/>
          <p:cNvSpPr/>
          <p:nvPr/>
        </p:nvSpPr>
        <p:spPr>
          <a:xfrm>
            <a:off x="7214616" y="436168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Issues</a:t>
            </a:r>
            <a:endParaRPr lang="en-US" sz="850" dirty="0"/>
          </a:p>
        </p:txBody>
      </p:sp>
      <p:sp>
        <p:nvSpPr>
          <p:cNvPr id="54" name="Shape 45"/>
          <p:cNvSpPr/>
          <p:nvPr/>
        </p:nvSpPr>
        <p:spPr>
          <a:xfrm>
            <a:off x="9642348" y="2926080"/>
            <a:ext cx="27432" cy="274320"/>
          </a:xfrm>
          <a:prstGeom prst="rect">
            <a:avLst/>
          </a:prstGeom>
          <a:solidFill>
            <a:srgbClr val="FF6B35">
              <a:alpha val="50000"/>
            </a:srgbClr>
          </a:solidFill>
          <a:ln w="12700">
            <a:solidFill>
              <a:srgbClr val="FF6B35">
                <a:alpha val="50000"/>
              </a:srgbClr>
            </a:solidFill>
            <a:prstDash val="solid"/>
          </a:ln>
        </p:spPr>
      </p:sp>
      <p:sp>
        <p:nvSpPr>
          <p:cNvPr id="55" name="Shape 46"/>
          <p:cNvSpPr/>
          <p:nvPr/>
        </p:nvSpPr>
        <p:spPr>
          <a:xfrm>
            <a:off x="8869680" y="3200400"/>
            <a:ext cx="1572768" cy="1691640"/>
          </a:xfrm>
          <a:prstGeom prst="rect">
            <a:avLst/>
          </a:prstGeom>
          <a:solidFill>
            <a:srgbClr val="0F2744"/>
          </a:solidFill>
          <a:ln w="12700">
            <a:solidFill>
              <a:srgbClr val="FF6B35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56" name="Shape 47"/>
          <p:cNvSpPr/>
          <p:nvPr/>
        </p:nvSpPr>
        <p:spPr>
          <a:xfrm>
            <a:off x="8869680" y="3200400"/>
            <a:ext cx="1572768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9418320" y="3291840"/>
            <a:ext cx="457200" cy="457200"/>
          </a:xfrm>
          <a:prstGeom prst="ellipse">
            <a:avLst/>
          </a:prstGeom>
          <a:solidFill>
            <a:srgbClr val="FF6B35">
              <a:alpha val="20000"/>
            </a:srgbClr>
          </a:solidFill>
          <a:ln w="12700">
            <a:solidFill>
              <a:srgbClr val="FF6B35">
                <a:alpha val="45000"/>
              </a:srgbClr>
            </a:solidFill>
            <a:prstDash val="solid"/>
          </a:ln>
        </p:spPr>
      </p:sp>
      <p:pic>
        <p:nvPicPr>
          <p:cNvPr id="5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3184" y="3346704"/>
            <a:ext cx="347472" cy="347472"/>
          </a:xfrm>
          <a:prstGeom prst="rect">
            <a:avLst/>
          </a:prstGeom>
        </p:spPr>
      </p:pic>
      <p:sp>
        <p:nvSpPr>
          <p:cNvPr id="59" name="Text 49"/>
          <p:cNvSpPr/>
          <p:nvPr/>
        </p:nvSpPr>
        <p:spPr>
          <a:xfrm>
            <a:off x="8924544" y="384048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050" dirty="0"/>
          </a:p>
        </p:txBody>
      </p:sp>
      <p:sp>
        <p:nvSpPr>
          <p:cNvPr id="60" name="Text 50"/>
          <p:cNvSpPr/>
          <p:nvPr/>
        </p:nvSpPr>
        <p:spPr>
          <a:xfrm>
            <a:off x="8924544" y="413308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:5006</a:t>
            </a:r>
            <a:endParaRPr lang="en-US" sz="900" dirty="0"/>
          </a:p>
        </p:txBody>
      </p:sp>
      <p:sp>
        <p:nvSpPr>
          <p:cNvPr id="61" name="Text 51"/>
          <p:cNvSpPr/>
          <p:nvPr/>
        </p:nvSpPr>
        <p:spPr>
          <a:xfrm>
            <a:off x="8924544" y="436168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KPI Endpoints</a:t>
            </a:r>
            <a:endParaRPr lang="en-US" sz="850" dirty="0"/>
          </a:p>
        </p:txBody>
      </p:sp>
      <p:sp>
        <p:nvSpPr>
          <p:cNvPr id="62" name="Shape 52"/>
          <p:cNvSpPr/>
          <p:nvPr/>
        </p:nvSpPr>
        <p:spPr>
          <a:xfrm>
            <a:off x="11352276" y="2926080"/>
            <a:ext cx="27432" cy="274320"/>
          </a:xfrm>
          <a:prstGeom prst="rect">
            <a:avLst/>
          </a:prstGeom>
          <a:solidFill>
            <a:srgbClr val="EC4899">
              <a:alpha val="50000"/>
            </a:srgbClr>
          </a:solidFill>
          <a:ln w="12700">
            <a:solidFill>
              <a:srgbClr val="EC4899">
                <a:alpha val="50000"/>
              </a:srgbClr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10579608" y="3200400"/>
            <a:ext cx="1572768" cy="1691640"/>
          </a:xfrm>
          <a:prstGeom prst="rect">
            <a:avLst/>
          </a:prstGeom>
          <a:solidFill>
            <a:srgbClr val="0F2744"/>
          </a:solidFill>
          <a:ln w="12700">
            <a:solidFill>
              <a:srgbClr val="EC4899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4" name="Shape 54"/>
          <p:cNvSpPr/>
          <p:nvPr/>
        </p:nvSpPr>
        <p:spPr>
          <a:xfrm>
            <a:off x="10579608" y="3200400"/>
            <a:ext cx="1572768" cy="45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5" name="Shape 55"/>
          <p:cNvSpPr/>
          <p:nvPr/>
        </p:nvSpPr>
        <p:spPr>
          <a:xfrm>
            <a:off x="11128248" y="3291840"/>
            <a:ext cx="457200" cy="457200"/>
          </a:xfrm>
          <a:prstGeom prst="ellipse">
            <a:avLst/>
          </a:prstGeom>
          <a:solidFill>
            <a:srgbClr val="EC4899">
              <a:alpha val="20000"/>
            </a:srgbClr>
          </a:solidFill>
          <a:ln w="12700">
            <a:solidFill>
              <a:srgbClr val="EC4899">
                <a:alpha val="45000"/>
              </a:srgbClr>
            </a:solidFill>
            <a:prstDash val="solid"/>
          </a:ln>
        </p:spPr>
      </p:sp>
      <p:pic>
        <p:nvPicPr>
          <p:cNvPr id="6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83112" y="3346704"/>
            <a:ext cx="347472" cy="347472"/>
          </a:xfrm>
          <a:prstGeom prst="rect">
            <a:avLst/>
          </a:prstGeom>
        </p:spPr>
      </p:pic>
      <p:sp>
        <p:nvSpPr>
          <p:cNvPr id="67" name="Text 56"/>
          <p:cNvSpPr/>
          <p:nvPr/>
        </p:nvSpPr>
        <p:spPr>
          <a:xfrm>
            <a:off x="10634472" y="384048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050" dirty="0"/>
          </a:p>
        </p:txBody>
      </p:sp>
      <p:sp>
        <p:nvSpPr>
          <p:cNvPr id="68" name="Text 57"/>
          <p:cNvSpPr/>
          <p:nvPr/>
        </p:nvSpPr>
        <p:spPr>
          <a:xfrm>
            <a:off x="10634472" y="413308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:5007</a:t>
            </a:r>
            <a:endParaRPr lang="en-US" sz="900" dirty="0"/>
          </a:p>
        </p:txBody>
      </p:sp>
      <p:sp>
        <p:nvSpPr>
          <p:cNvPr id="69" name="Text 58"/>
          <p:cNvSpPr/>
          <p:nvPr/>
        </p:nvSpPr>
        <p:spPr>
          <a:xfrm>
            <a:off x="10634472" y="436168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850" dirty="0"/>
          </a:p>
        </p:txBody>
      </p:sp>
      <p:sp>
        <p:nvSpPr>
          <p:cNvPr id="70" name="Shape 59"/>
          <p:cNvSpPr/>
          <p:nvPr/>
        </p:nvSpPr>
        <p:spPr>
          <a:xfrm>
            <a:off x="320040" y="5102352"/>
            <a:ext cx="11521440" cy="566928"/>
          </a:xfrm>
          <a:prstGeom prst="rect">
            <a:avLst/>
          </a:prstGeom>
          <a:solidFill>
            <a:srgbClr val="1A0A30"/>
          </a:solidFill>
          <a:ln w="12700">
            <a:solidFill>
              <a:srgbClr val="8BA5BB">
                <a:alpha val="40000"/>
              </a:srgbClr>
            </a:solidFill>
            <a:prstDash val="solid"/>
          </a:ln>
        </p:spPr>
      </p:sp>
      <p:pic>
        <p:nvPicPr>
          <p:cNvPr id="7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5166360"/>
            <a:ext cx="384048" cy="384048"/>
          </a:xfrm>
          <a:prstGeom prst="rect">
            <a:avLst/>
          </a:prstGeom>
        </p:spPr>
      </p:pic>
      <p:sp>
        <p:nvSpPr>
          <p:cNvPr id="72" name="Text 60"/>
          <p:cNvSpPr/>
          <p:nvPr/>
        </p:nvSpPr>
        <p:spPr>
          <a:xfrm>
            <a:off x="914400" y="519379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— Separate schema per microservice (Identity · Wellness · Participation · Engagement · Compliance · Notification)</a:t>
            </a:r>
            <a:endParaRPr lang="en-US" sz="1000" dirty="0"/>
          </a:p>
        </p:txBody>
      </p:sp>
      <p:sp>
        <p:nvSpPr>
          <p:cNvPr id="73" name="Shape 61"/>
          <p:cNvSpPr/>
          <p:nvPr/>
        </p:nvSpPr>
        <p:spPr>
          <a:xfrm>
            <a:off x="457200" y="2331720"/>
            <a:ext cx="146304" cy="146304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4" name="Text 62"/>
          <p:cNvSpPr/>
          <p:nvPr/>
        </p:nvSpPr>
        <p:spPr>
          <a:xfrm>
            <a:off x="658368" y="2286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Reporting has no own DB — aggregates from 5 services via Task.WhenAll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4980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8016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3716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 — JWT Authentication &amp; RBAC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20040" y="1005840"/>
            <a:ext cx="1828800" cy="2331720"/>
          </a:xfrm>
          <a:prstGeom prst="rect">
            <a:avLst/>
          </a:prstGeom>
          <a:solidFill>
            <a:srgbClr val="0F2744"/>
          </a:solidFill>
          <a:ln w="12700">
            <a:solidFill>
              <a:srgbClr val="00D4C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86968" y="1078992"/>
            <a:ext cx="694944" cy="694944"/>
          </a:xfrm>
          <a:prstGeom prst="ellipse">
            <a:avLst/>
          </a:prstGeom>
          <a:solidFill>
            <a:srgbClr val="00D4C8">
              <a:alpha val="25000"/>
            </a:srgbClr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6968" y="107899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11480" y="1920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Request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2395728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email + password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Reactive Form → POST /auth/login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167128" y="2130552"/>
            <a:ext cx="109728" cy="36576"/>
          </a:xfrm>
          <a:prstGeom prst="rect">
            <a:avLst/>
          </a:prstGeom>
          <a:solidFill>
            <a:srgbClr val="00D4C8">
              <a:alpha val="50000"/>
            </a:srgbClr>
          </a:solidFill>
          <a:ln w="12700">
            <a:solidFill>
              <a:srgbClr val="00D4C8">
                <a:alpha val="5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304288" y="1005840"/>
            <a:ext cx="1828800" cy="2331720"/>
          </a:xfrm>
          <a:prstGeom prst="rect">
            <a:avLst/>
          </a:prstGeom>
          <a:solidFill>
            <a:srgbClr val="0F2744"/>
          </a:solidFill>
          <a:ln w="12700">
            <a:solidFill>
              <a:srgbClr val="FF6B35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871216" y="1078992"/>
            <a:ext cx="694944" cy="694944"/>
          </a:xfrm>
          <a:prstGeom prst="ellipse">
            <a:avLst/>
          </a:prstGeom>
          <a:solidFill>
            <a:srgbClr val="FF6B35">
              <a:alpha val="2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71216" y="107899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395728" y="1920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Service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395728" y="2395728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BCrypt.Verify(password, hash)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email &amp; Active status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151376" y="2130552"/>
            <a:ext cx="109728" cy="36576"/>
          </a:xfrm>
          <a:prstGeom prst="rect">
            <a:avLst/>
          </a:prstGeom>
          <a:solidFill>
            <a:srgbClr val="FF6B35">
              <a:alpha val="50000"/>
            </a:srgbClr>
          </a:solidFill>
          <a:ln w="12700">
            <a:solidFill>
              <a:srgbClr val="FF6B35">
                <a:alpha val="5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88536" y="1005840"/>
            <a:ext cx="1828800" cy="2331720"/>
          </a:xfrm>
          <a:prstGeom prst="rect">
            <a:avLst/>
          </a:prstGeom>
          <a:solidFill>
            <a:srgbClr val="0F2744"/>
          </a:solidFill>
          <a:ln w="12700">
            <a:solidFill>
              <a:srgbClr val="A855F7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55464" y="1078992"/>
            <a:ext cx="694944" cy="694944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55464" y="107899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4379976" y="1920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Generated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379976" y="2395728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HmacSha256 · 8hr expiry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Claims: sub · email · role · name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35624" y="2130552"/>
            <a:ext cx="109728" cy="36576"/>
          </a:xfrm>
          <a:prstGeom prst="rect">
            <a:avLst/>
          </a:prstGeom>
          <a:solidFill>
            <a:srgbClr val="A855F7">
              <a:alpha val="50000"/>
            </a:srgbClr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72784" y="1005840"/>
            <a:ext cx="1828800" cy="2331720"/>
          </a:xfrm>
          <a:prstGeom prst="rect">
            <a:avLst/>
          </a:prstGeom>
          <a:solidFill>
            <a:srgbClr val="0F2744"/>
          </a:solidFill>
          <a:ln w="12700">
            <a:solidFill>
              <a:srgbClr val="EAB30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839712" y="1078992"/>
            <a:ext cx="694944" cy="694944"/>
          </a:xfrm>
          <a:prstGeom prst="ellipse">
            <a:avLst/>
          </a:prstGeom>
          <a:solidFill>
            <a:srgbClr val="EAB308">
              <a:alpha val="25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39712" y="107899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6364224" y="1920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Stored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364224" y="2395728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cookie: SameSite=Strict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8hr expiry — auto-clear on logout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119872" y="2130552"/>
            <a:ext cx="109728" cy="36576"/>
          </a:xfrm>
          <a:prstGeom prst="rect">
            <a:avLst/>
          </a:prstGeom>
          <a:solidFill>
            <a:srgbClr val="EAB308">
              <a:alpha val="50000"/>
            </a:srgbClr>
          </a:solidFill>
          <a:ln w="12700">
            <a:solidFill>
              <a:srgbClr val="EAB308">
                <a:alpha val="5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257032" y="1005840"/>
            <a:ext cx="1828800" cy="2331720"/>
          </a:xfrm>
          <a:prstGeom prst="rect">
            <a:avLst/>
          </a:prstGeom>
          <a:solidFill>
            <a:srgbClr val="0F2744"/>
          </a:solidFill>
          <a:ln w="12700">
            <a:solidFill>
              <a:srgbClr val="22C55E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823960" y="1078992"/>
            <a:ext cx="694944" cy="694944"/>
          </a:xfrm>
          <a:prstGeom prst="ellipse">
            <a:avLst/>
          </a:prstGeom>
          <a:solidFill>
            <a:srgbClr val="22C55E">
              <a:alpha val="2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823960" y="107899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8348472" y="1920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Interceptor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348472" y="2395728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cookie on every request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Auto-attaches Bearer token header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10104120" y="2130552"/>
            <a:ext cx="109728" cy="36576"/>
          </a:xfrm>
          <a:prstGeom prst="rect">
            <a:avLst/>
          </a:prstGeom>
          <a:solidFill>
            <a:srgbClr val="22C55E">
              <a:alpha val="50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0241280" y="1005840"/>
            <a:ext cx="1828800" cy="2331720"/>
          </a:xfrm>
          <a:prstGeom prst="rect">
            <a:avLst/>
          </a:prstGeom>
          <a:solidFill>
            <a:srgbClr val="0F2744"/>
          </a:solidFill>
          <a:ln w="12700">
            <a:solidFill>
              <a:srgbClr val="F97316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10808208" y="1078992"/>
            <a:ext cx="694944" cy="694944"/>
          </a:xfrm>
          <a:prstGeom prst="ellipse">
            <a:avLst/>
          </a:prstGeom>
          <a:solidFill>
            <a:srgbClr val="F97316">
              <a:alpha val="2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808208" y="107899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10332720" y="1920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Validation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10332720" y="2395728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Ocelot validates JWT signature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routes except login secured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320040" y="35661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320040" y="4069080"/>
            <a:ext cx="8046720" cy="438912"/>
          </a:xfrm>
          <a:prstGeom prst="rect">
            <a:avLst/>
          </a:prstGeom>
          <a:solidFill>
            <a:srgbClr val="162E52"/>
          </a:solidFill>
          <a:ln w="12700">
            <a:solidFill>
              <a:srgbClr val="00D4C8">
                <a:alpha val="35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20040" y="4069080"/>
            <a:ext cx="54864" cy="438912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75488" y="4142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2377440" y="414223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access · User mgmt · Program creation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320040" y="4590288"/>
            <a:ext cx="8046720" cy="438912"/>
          </a:xfrm>
          <a:prstGeom prst="rect">
            <a:avLst/>
          </a:prstGeom>
          <a:solidFill>
            <a:srgbClr val="162E52"/>
          </a:solidFill>
          <a:ln w="12700">
            <a:solidFill>
              <a:srgbClr val="FF6B35">
                <a:alpha val="3500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320040" y="4590288"/>
            <a:ext cx="54864" cy="4389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75488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2377440" y="46634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· Compliance mgmt · Employee overview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320040" y="5111496"/>
            <a:ext cx="8046720" cy="438912"/>
          </a:xfrm>
          <a:prstGeom prst="rect">
            <a:avLst/>
          </a:prstGeom>
          <a:solidFill>
            <a:srgbClr val="162E52"/>
          </a:solidFill>
          <a:ln w="12700">
            <a:solidFill>
              <a:srgbClr val="22C55E">
                <a:alpha val="3500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20040" y="5111496"/>
            <a:ext cx="54864" cy="4389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75488" y="5184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2377440" y="518464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programs · Enroll activities · Submit feedback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320040" y="5632704"/>
            <a:ext cx="8046720" cy="438912"/>
          </a:xfrm>
          <a:prstGeom prst="rect">
            <a:avLst/>
          </a:prstGeom>
          <a:solidFill>
            <a:srgbClr val="162E52"/>
          </a:solidFill>
          <a:ln w="12700">
            <a:solidFill>
              <a:srgbClr val="EAB308">
                <a:alpha val="3500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5632704"/>
            <a:ext cx="54864" cy="43891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75488" y="57058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2377440" y="570585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attendance · Upload resources · Manage sessions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320040" y="6153912"/>
            <a:ext cx="8046720" cy="438912"/>
          </a:xfrm>
          <a:prstGeom prst="rect">
            <a:avLst/>
          </a:prstGeom>
          <a:solidFill>
            <a:srgbClr val="162E52"/>
          </a:solidFill>
          <a:ln w="12700">
            <a:solidFill>
              <a:srgbClr val="A855F7">
                <a:alpha val="3500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320040" y="6153912"/>
            <a:ext cx="54864" cy="43891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75488" y="6227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ComplianceOfficer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2377440" y="622706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management · Policy issue reporting · Compliance status</a:t>
            </a:r>
            <a:endParaRPr lang="en-US" sz="1050" dirty="0"/>
          </a:p>
        </p:txBody>
      </p:sp>
      <p:sp>
        <p:nvSpPr>
          <p:cNvPr id="61" name="Text 58"/>
          <p:cNvSpPr/>
          <p:nvPr/>
        </p:nvSpPr>
        <p:spPr>
          <a:xfrm>
            <a:off x="8686800" y="35661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Anatomy</a:t>
            </a:r>
            <a:endParaRPr lang="en-US" sz="1500" dirty="0"/>
          </a:p>
        </p:txBody>
      </p:sp>
      <p:sp>
        <p:nvSpPr>
          <p:cNvPr id="62" name="Shape 59"/>
          <p:cNvSpPr/>
          <p:nvPr/>
        </p:nvSpPr>
        <p:spPr>
          <a:xfrm>
            <a:off x="8686800" y="4069080"/>
            <a:ext cx="3200400" cy="749808"/>
          </a:xfrm>
          <a:prstGeom prst="rect">
            <a:avLst/>
          </a:prstGeom>
          <a:solidFill>
            <a:srgbClr val="0F2744"/>
          </a:solidFill>
          <a:ln w="12700">
            <a:solidFill>
              <a:srgbClr val="00D4C8">
                <a:alpha val="4500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8686800" y="4069080"/>
            <a:ext cx="54864" cy="749808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8833104" y="4096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050" dirty="0"/>
          </a:p>
        </p:txBody>
      </p:sp>
      <p:sp>
        <p:nvSpPr>
          <p:cNvPr id="65" name="Text 62"/>
          <p:cNvSpPr/>
          <p:nvPr/>
        </p:nvSpPr>
        <p:spPr>
          <a:xfrm>
            <a:off x="8833104" y="43525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HmacSha256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type: JWT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8686800" y="4937760"/>
            <a:ext cx="3200400" cy="749808"/>
          </a:xfrm>
          <a:prstGeom prst="rect">
            <a:avLst/>
          </a:prstGeom>
          <a:solidFill>
            <a:srgbClr val="0F2744"/>
          </a:solidFill>
          <a:ln w="12700">
            <a:solidFill>
              <a:srgbClr val="FF6B35">
                <a:alpha val="4500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8686800" y="4937760"/>
            <a:ext cx="54864" cy="7498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8833104" y="49651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050" dirty="0"/>
          </a:p>
        </p:txBody>
      </p:sp>
      <p:sp>
        <p:nvSpPr>
          <p:cNvPr id="69" name="Text 66"/>
          <p:cNvSpPr/>
          <p:nvPr/>
        </p:nvSpPr>
        <p:spPr>
          <a:xfrm>
            <a:off x="8833104" y="522122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· email · role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iat · exp (8h)</a:t>
            </a:r>
            <a:endParaRPr lang="en-US" sz="900" dirty="0"/>
          </a:p>
        </p:txBody>
      </p:sp>
      <p:sp>
        <p:nvSpPr>
          <p:cNvPr id="70" name="Shape 67"/>
          <p:cNvSpPr/>
          <p:nvPr/>
        </p:nvSpPr>
        <p:spPr>
          <a:xfrm>
            <a:off x="8686800" y="5806440"/>
            <a:ext cx="3200400" cy="749808"/>
          </a:xfrm>
          <a:prstGeom prst="rect">
            <a:avLst/>
          </a:prstGeom>
          <a:solidFill>
            <a:srgbClr val="0F2744"/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8686800" y="5806440"/>
            <a:ext cx="54864" cy="7498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8833104" y="58338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050" dirty="0"/>
          </a:p>
        </p:txBody>
      </p:sp>
      <p:sp>
        <p:nvSpPr>
          <p:cNvPr id="73" name="Text 70"/>
          <p:cNvSpPr/>
          <p:nvPr/>
        </p:nvSpPr>
        <p:spPr>
          <a:xfrm>
            <a:off x="8833104" y="608990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HMACSHA256(base64url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(header+payload), key)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4980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Analytics — Primary Module Ownership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20040" y="868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Data Aggregation Pattern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20040" y="1325880"/>
            <a:ext cx="2194560" cy="658368"/>
          </a:xfrm>
          <a:prstGeom prst="rect">
            <a:avLst/>
          </a:prstGeom>
          <a:solidFill>
            <a:srgbClr val="0F2744"/>
          </a:solidFill>
          <a:ln w="12700">
            <a:solidFill>
              <a:srgbClr val="DD0031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399032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13716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forkJoin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Parallel Calls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542032" y="1618488"/>
            <a:ext cx="548640" cy="36576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108960" y="1234440"/>
            <a:ext cx="2377440" cy="868680"/>
          </a:xfrm>
          <a:prstGeom prst="rect">
            <a:avLst/>
          </a:prstGeom>
          <a:solidFill>
            <a:srgbClr val="1A0A30"/>
          </a:solidFill>
          <a:ln w="12700">
            <a:solidFill>
              <a:srgbClr val="FF6B35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688" y="132588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749040" y="1261872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Service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5006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Task.WhenAll()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5504688" y="1417320"/>
            <a:ext cx="475488" cy="36576"/>
          </a:xfrm>
          <a:prstGeom prst="rect">
            <a:avLst/>
          </a:prstGeom>
          <a:solidFill>
            <a:srgbClr val="00D4C8">
              <a:alpha val="50000"/>
            </a:srgbClr>
          </a:solidFill>
          <a:ln w="12700">
            <a:solidFill>
              <a:srgbClr val="00D4C8">
                <a:alpha val="5000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5998464" y="1252728"/>
            <a:ext cx="1463040" cy="530352"/>
          </a:xfrm>
          <a:prstGeom prst="rect">
            <a:avLst/>
          </a:prstGeom>
          <a:solidFill>
            <a:srgbClr val="162E52"/>
          </a:solidFill>
          <a:ln w="12700">
            <a:solidFill>
              <a:srgbClr val="00D4C8">
                <a:alpha val="5500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998464" y="1252728"/>
            <a:ext cx="54864" cy="530352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108192" y="130759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:5001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5504688" y="1938528"/>
            <a:ext cx="475488" cy="36576"/>
          </a:xfrm>
          <a:prstGeom prst="rect">
            <a:avLst/>
          </a:prstGeom>
          <a:solidFill>
            <a:srgbClr val="22C55E">
              <a:alpha val="50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998464" y="1773936"/>
            <a:ext cx="1463040" cy="530352"/>
          </a:xfrm>
          <a:prstGeom prst="rect">
            <a:avLst/>
          </a:prstGeom>
          <a:solidFill>
            <a:srgbClr val="162E52"/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998464" y="1773936"/>
            <a:ext cx="54864" cy="5303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108192" y="18288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:5002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504688" y="2450592"/>
            <a:ext cx="475488" cy="36576"/>
          </a:xfrm>
          <a:prstGeom prst="rect">
            <a:avLst/>
          </a:prstGeom>
          <a:solidFill>
            <a:srgbClr val="EAB308">
              <a:alpha val="50000"/>
            </a:srgbClr>
          </a:solidFill>
          <a:ln w="12700">
            <a:solidFill>
              <a:srgbClr val="EAB308">
                <a:alpha val="5000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98464" y="2286000"/>
            <a:ext cx="1463040" cy="530352"/>
          </a:xfrm>
          <a:prstGeom prst="rect">
            <a:avLst/>
          </a:prstGeom>
          <a:solidFill>
            <a:srgbClr val="162E52"/>
          </a:solidFill>
          <a:ln w="12700">
            <a:solidFill>
              <a:srgbClr val="EAB308">
                <a:alpha val="5500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998464" y="2286000"/>
            <a:ext cx="54864" cy="53035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108192" y="234086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:5003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5504688" y="2971800"/>
            <a:ext cx="475488" cy="36576"/>
          </a:xfrm>
          <a:prstGeom prst="rect">
            <a:avLst/>
          </a:prstGeom>
          <a:solidFill>
            <a:srgbClr val="F97316">
              <a:alpha val="50000"/>
            </a:srgbClr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998464" y="2807208"/>
            <a:ext cx="1463040" cy="530352"/>
          </a:xfrm>
          <a:prstGeom prst="rect">
            <a:avLst/>
          </a:prstGeom>
          <a:solidFill>
            <a:srgbClr val="162E52"/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998464" y="2807208"/>
            <a:ext cx="54864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108192" y="286207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:5004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5504688" y="3493008"/>
            <a:ext cx="475488" cy="36576"/>
          </a:xfrm>
          <a:prstGeom prst="rect">
            <a:avLst/>
          </a:prstGeom>
          <a:solidFill>
            <a:srgbClr val="A855F7">
              <a:alpha val="50000"/>
            </a:srgbClr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998464" y="3328416"/>
            <a:ext cx="1463040" cy="530352"/>
          </a:xfrm>
          <a:prstGeom prst="rect">
            <a:avLst/>
          </a:prstGeom>
          <a:solidFill>
            <a:srgbClr val="162E52"/>
          </a:solidFill>
          <a:ln w="12700">
            <a:solidFill>
              <a:srgbClr val="A855F7">
                <a:alpha val="55000"/>
              </a:srgbClr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998464" y="3328416"/>
            <a:ext cx="54864" cy="5303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108192" y="33832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:5005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320040" y="385876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Report Endpoints Implemented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320040" y="4315968"/>
            <a:ext cx="3749040" cy="384048"/>
          </a:xfrm>
          <a:prstGeom prst="rect">
            <a:avLst/>
          </a:prstGeom>
          <a:solidFill>
            <a:srgbClr val="0F2744"/>
          </a:solidFill>
          <a:ln w="12700">
            <a:solidFill>
              <a:srgbClr val="00D4C8">
                <a:alpha val="35000"/>
              </a:srgbClr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320040" y="4315968"/>
            <a:ext cx="54864" cy="384048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48056" y="43525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/reports/programs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2313432" y="4352544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· Active · Completed programs; avg participation rate</a:t>
            </a:r>
            <a:endParaRPr lang="en-US" sz="850" dirty="0"/>
          </a:p>
        </p:txBody>
      </p:sp>
      <p:sp>
        <p:nvSpPr>
          <p:cNvPr id="38" name="Shape 33"/>
          <p:cNvSpPr/>
          <p:nvPr/>
        </p:nvSpPr>
        <p:spPr>
          <a:xfrm>
            <a:off x="4251960" y="4315968"/>
            <a:ext cx="3749040" cy="384048"/>
          </a:xfrm>
          <a:prstGeom prst="rect">
            <a:avLst/>
          </a:prstGeom>
          <a:solidFill>
            <a:srgbClr val="0F2744"/>
          </a:solidFill>
          <a:ln w="12700">
            <a:solidFill>
              <a:srgbClr val="FF6B35">
                <a:alpha val="35000"/>
              </a:srgbClr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4251960" y="4315968"/>
            <a:ext cx="54864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4379976" y="43525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/reports/engagement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6245352" y="4352544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engagement score; highly/low engaged employees</a:t>
            </a:r>
            <a:endParaRPr lang="en-US" sz="850" dirty="0"/>
          </a:p>
        </p:txBody>
      </p:sp>
      <p:sp>
        <p:nvSpPr>
          <p:cNvPr id="42" name="Shape 37"/>
          <p:cNvSpPr/>
          <p:nvPr/>
        </p:nvSpPr>
        <p:spPr>
          <a:xfrm>
            <a:off x="320040" y="4791456"/>
            <a:ext cx="3749040" cy="384048"/>
          </a:xfrm>
          <a:prstGeom prst="rect">
            <a:avLst/>
          </a:prstGeom>
          <a:solidFill>
            <a:srgbClr val="0F2744"/>
          </a:solidFill>
          <a:ln w="12700">
            <a:solidFill>
              <a:srgbClr val="A855F7">
                <a:alpha val="35000"/>
              </a:srgbClr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320040" y="4791456"/>
            <a:ext cx="54864" cy="3840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448056" y="4828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/reports/compliance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2313432" y="482803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completion rate · Open issues · Pending count</a:t>
            </a:r>
            <a:endParaRPr lang="en-US" sz="850" dirty="0"/>
          </a:p>
        </p:txBody>
      </p:sp>
      <p:sp>
        <p:nvSpPr>
          <p:cNvPr id="46" name="Shape 41"/>
          <p:cNvSpPr/>
          <p:nvPr/>
        </p:nvSpPr>
        <p:spPr>
          <a:xfrm>
            <a:off x="4251960" y="4791456"/>
            <a:ext cx="3749040" cy="384048"/>
          </a:xfrm>
          <a:prstGeom prst="rect">
            <a:avLst/>
          </a:prstGeom>
          <a:solidFill>
            <a:srgbClr val="0F2744"/>
          </a:solidFill>
          <a:ln w="12700">
            <a:solidFill>
              <a:srgbClr val="EAB308">
                <a:alpha val="35000"/>
              </a:srgbClr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4251960" y="4791456"/>
            <a:ext cx="54864" cy="38404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4379976" y="4828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/reports/participation-trends</a:t>
            </a:r>
            <a:endParaRPr lang="en-US" sz="900" dirty="0"/>
          </a:p>
        </p:txBody>
      </p:sp>
      <p:sp>
        <p:nvSpPr>
          <p:cNvPr id="49" name="Text 44"/>
          <p:cNvSpPr/>
          <p:nvPr/>
        </p:nvSpPr>
        <p:spPr>
          <a:xfrm>
            <a:off x="6245352" y="482803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trends · Top programs · Active participant compare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320040" y="5266944"/>
            <a:ext cx="3749040" cy="384048"/>
          </a:xfrm>
          <a:prstGeom prst="rect">
            <a:avLst/>
          </a:prstGeom>
          <a:solidFill>
            <a:srgbClr val="0F2744"/>
          </a:solidFill>
          <a:ln w="12700">
            <a:solidFill>
              <a:srgbClr val="22C55E">
                <a:alpha val="35000"/>
              </a:srgbClr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20040" y="5266944"/>
            <a:ext cx="54864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448056" y="5303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/reports/engagement-scores</a:t>
            </a:r>
            <a:endParaRPr lang="en-US" sz="900" dirty="0"/>
          </a:p>
        </p:txBody>
      </p:sp>
      <p:sp>
        <p:nvSpPr>
          <p:cNvPr id="53" name="Text 48"/>
          <p:cNvSpPr/>
          <p:nvPr/>
        </p:nvSpPr>
        <p:spPr>
          <a:xfrm>
            <a:off x="2313432" y="530352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Per-employee scores · High/Moderate/Low breakdown</a:t>
            </a:r>
            <a:endParaRPr lang="en-US" sz="850" dirty="0"/>
          </a:p>
        </p:txBody>
      </p:sp>
      <p:sp>
        <p:nvSpPr>
          <p:cNvPr id="54" name="Shape 49"/>
          <p:cNvSpPr/>
          <p:nvPr/>
        </p:nvSpPr>
        <p:spPr>
          <a:xfrm>
            <a:off x="4251960" y="5266944"/>
            <a:ext cx="3749040" cy="384048"/>
          </a:xfrm>
          <a:prstGeom prst="rect">
            <a:avLst/>
          </a:prstGeom>
          <a:solidFill>
            <a:srgbClr val="0F2744"/>
          </a:solidFill>
          <a:ln w="1270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4251960" y="5266944"/>
            <a:ext cx="54864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4379976" y="5303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/reports/user-distribution</a:t>
            </a:r>
            <a:endParaRPr lang="en-US" sz="900" dirty="0"/>
          </a:p>
        </p:txBody>
      </p:sp>
      <p:sp>
        <p:nvSpPr>
          <p:cNvPr id="57" name="Text 52"/>
          <p:cNvSpPr/>
          <p:nvPr/>
        </p:nvSpPr>
        <p:spPr>
          <a:xfrm>
            <a:off x="6245352" y="530352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Role-wise user count and percentage distribution</a:t>
            </a:r>
            <a:endParaRPr lang="en-US" sz="850" dirty="0"/>
          </a:p>
        </p:txBody>
      </p:sp>
      <p:sp>
        <p:nvSpPr>
          <p:cNvPr id="58" name="Shape 53"/>
          <p:cNvSpPr/>
          <p:nvPr/>
        </p:nvSpPr>
        <p:spPr>
          <a:xfrm>
            <a:off x="320040" y="5742432"/>
            <a:ext cx="3749040" cy="384048"/>
          </a:xfrm>
          <a:prstGeom prst="rect">
            <a:avLst/>
          </a:prstGeom>
          <a:solidFill>
            <a:srgbClr val="0F2744"/>
          </a:solidFill>
          <a:ln w="12700">
            <a:solidFill>
              <a:srgbClr val="EC4899">
                <a:alpha val="35000"/>
              </a:srgbClr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320040" y="5742432"/>
            <a:ext cx="54864" cy="38404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448056" y="5779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/reports/participation</a:t>
            </a:r>
            <a:endParaRPr lang="en-US" sz="900" dirty="0"/>
          </a:p>
        </p:txBody>
      </p:sp>
      <p:sp>
        <p:nvSpPr>
          <p:cNvPr id="61" name="Text 56"/>
          <p:cNvSpPr/>
          <p:nvPr/>
        </p:nvSpPr>
        <p:spPr>
          <a:xfrm>
            <a:off x="2313432" y="5779008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participation statistics</a:t>
            </a:r>
            <a:endParaRPr lang="en-US" sz="850" dirty="0"/>
          </a:p>
        </p:txBody>
      </p:sp>
      <p:sp>
        <p:nvSpPr>
          <p:cNvPr id="62" name="Text 57"/>
          <p:cNvSpPr/>
          <p:nvPr/>
        </p:nvSpPr>
        <p:spPr>
          <a:xfrm>
            <a:off x="8046720" y="868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Reporting Dashboard</a:t>
            </a:r>
            <a:endParaRPr lang="en-US" sz="1400" dirty="0"/>
          </a:p>
        </p:txBody>
      </p:sp>
      <p:sp>
        <p:nvSpPr>
          <p:cNvPr id="63" name="Shape 58"/>
          <p:cNvSpPr/>
          <p:nvPr/>
        </p:nvSpPr>
        <p:spPr>
          <a:xfrm>
            <a:off x="8046720" y="1325880"/>
            <a:ext cx="3840480" cy="1143000"/>
          </a:xfrm>
          <a:prstGeom prst="rect">
            <a:avLst/>
          </a:prstGeom>
          <a:solidFill>
            <a:srgbClr val="0F2744"/>
          </a:solidFill>
          <a:ln w="12700">
            <a:solidFill>
              <a:srgbClr val="00D4C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4" name="Shape 59"/>
          <p:cNvSpPr/>
          <p:nvPr/>
        </p:nvSpPr>
        <p:spPr>
          <a:xfrm>
            <a:off x="8046720" y="1325880"/>
            <a:ext cx="3840480" cy="4572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8193024" y="14173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Report</a:t>
            </a:r>
            <a:endParaRPr lang="en-US" sz="1200" dirty="0"/>
          </a:p>
        </p:txBody>
      </p:sp>
      <p:sp>
        <p:nvSpPr>
          <p:cNvPr id="66" name="Text 61"/>
          <p:cNvSpPr/>
          <p:nvPr/>
        </p:nvSpPr>
        <p:spPr>
          <a:xfrm>
            <a:off x="8193024" y="17373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KPI cards · Compliance detail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detail · User distribution</a:t>
            </a:r>
            <a:endParaRPr lang="en-US" sz="1000" dirty="0"/>
          </a:p>
        </p:txBody>
      </p:sp>
      <p:sp>
        <p:nvSpPr>
          <p:cNvPr id="67" name="Shape 62"/>
          <p:cNvSpPr/>
          <p:nvPr/>
        </p:nvSpPr>
        <p:spPr>
          <a:xfrm>
            <a:off x="8046720" y="2624328"/>
            <a:ext cx="3840480" cy="1143000"/>
          </a:xfrm>
          <a:prstGeom prst="rect">
            <a:avLst/>
          </a:prstGeom>
          <a:solidFill>
            <a:srgbClr val="0F2744"/>
          </a:solidFill>
          <a:ln w="12700">
            <a:solidFill>
              <a:srgbClr val="EAB30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8" name="Shape 63"/>
          <p:cNvSpPr/>
          <p:nvPr/>
        </p:nvSpPr>
        <p:spPr>
          <a:xfrm>
            <a:off x="8046720" y="2624328"/>
            <a:ext cx="3840480" cy="4572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193024" y="27157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Report</a:t>
            </a:r>
            <a:endParaRPr lang="en-US" sz="1200" dirty="0"/>
          </a:p>
        </p:txBody>
      </p:sp>
      <p:sp>
        <p:nvSpPr>
          <p:cNvPr id="70" name="Text 65"/>
          <p:cNvSpPr/>
          <p:nvPr/>
        </p:nvSpPr>
        <p:spPr>
          <a:xfrm>
            <a:off x="8193024" y="303580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charts · Top 5 programs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vs previous month</a:t>
            </a:r>
            <a:endParaRPr lang="en-US" sz="1000" dirty="0"/>
          </a:p>
        </p:txBody>
      </p:sp>
      <p:sp>
        <p:nvSpPr>
          <p:cNvPr id="71" name="Shape 66"/>
          <p:cNvSpPr/>
          <p:nvPr/>
        </p:nvSpPr>
        <p:spPr>
          <a:xfrm>
            <a:off x="8046720" y="3922776"/>
            <a:ext cx="3840480" cy="1143000"/>
          </a:xfrm>
          <a:prstGeom prst="rect">
            <a:avLst/>
          </a:prstGeom>
          <a:solidFill>
            <a:srgbClr val="0F2744"/>
          </a:solidFill>
          <a:ln w="12700">
            <a:solidFill>
              <a:srgbClr val="FF6B35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72" name="Shape 67"/>
          <p:cNvSpPr/>
          <p:nvPr/>
        </p:nvSpPr>
        <p:spPr>
          <a:xfrm>
            <a:off x="8046720" y="3922776"/>
            <a:ext cx="384048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3" name="Text 68"/>
          <p:cNvSpPr/>
          <p:nvPr/>
        </p:nvSpPr>
        <p:spPr>
          <a:xfrm>
            <a:off x="8193024" y="40142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Report</a:t>
            </a:r>
            <a:endParaRPr lang="en-US" sz="1200" dirty="0"/>
          </a:p>
        </p:txBody>
      </p:sp>
      <p:sp>
        <p:nvSpPr>
          <p:cNvPr id="74" name="Text 69"/>
          <p:cNvSpPr/>
          <p:nvPr/>
        </p:nvSpPr>
        <p:spPr>
          <a:xfrm>
            <a:off x="8193024" y="4334256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Per-employee score breakdown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leaderboard · Trend over time</a:t>
            </a:r>
            <a:endParaRPr lang="en-US" sz="1000" dirty="0"/>
          </a:p>
        </p:txBody>
      </p:sp>
      <p:sp>
        <p:nvSpPr>
          <p:cNvPr id="75" name="Shape 70"/>
          <p:cNvSpPr/>
          <p:nvPr/>
        </p:nvSpPr>
        <p:spPr>
          <a:xfrm>
            <a:off x="8046720" y="5257800"/>
            <a:ext cx="3840480" cy="1298448"/>
          </a:xfrm>
          <a:prstGeom prst="rect">
            <a:avLst/>
          </a:prstGeom>
          <a:solidFill>
            <a:srgbClr val="162E52"/>
          </a:solidFill>
          <a:ln w="12700">
            <a:solidFill>
              <a:srgbClr val="00D4C8">
                <a:alpha val="45000"/>
              </a:srgbClr>
            </a:solidFill>
            <a:prstDash val="solid"/>
          </a:ln>
        </p:spPr>
      </p:sp>
      <p:sp>
        <p:nvSpPr>
          <p:cNvPr id="76" name="Text 71"/>
          <p:cNvSpPr/>
          <p:nvPr/>
        </p:nvSpPr>
        <p:spPr>
          <a:xfrm>
            <a:off x="8193024" y="5321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Signals Pattern</a:t>
            </a:r>
            <a:endParaRPr lang="en-US" sz="1100" dirty="0"/>
          </a:p>
        </p:txBody>
      </p:sp>
      <p:sp>
        <p:nvSpPr>
          <p:cNvPr id="77" name="Text 72"/>
          <p:cNvSpPr/>
          <p:nvPr/>
        </p:nvSpPr>
        <p:spPr>
          <a:xfrm>
            <a:off x="8193024" y="56235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programs = signal&lt;ProgramReport | null&gt;(null)</a:t>
            </a:r>
            <a:endParaRPr lang="en-US" sz="850" dirty="0"/>
          </a:p>
        </p:txBody>
      </p:sp>
      <p:sp>
        <p:nvSpPr>
          <p:cNvPr id="78" name="Text 73"/>
          <p:cNvSpPr/>
          <p:nvPr/>
        </p:nvSpPr>
        <p:spPr>
          <a:xfrm>
            <a:off x="8193024" y="586130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highPct = computed(() =&gt; ...engagement...)</a:t>
            </a:r>
            <a:endParaRPr lang="en-US" sz="850" dirty="0"/>
          </a:p>
        </p:txBody>
      </p:sp>
      <p:sp>
        <p:nvSpPr>
          <p:cNvPr id="79" name="Text 74"/>
          <p:cNvSpPr/>
          <p:nvPr/>
        </p:nvSpPr>
        <p:spPr>
          <a:xfrm>
            <a:off x="8193024" y="60990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takeUntilDestroyed(this.destroyRef)</a:t>
            </a:r>
            <a:endParaRPr lang="en-US" sz="850" dirty="0"/>
          </a:p>
        </p:txBody>
      </p:sp>
      <p:sp>
        <p:nvSpPr>
          <p:cNvPr id="80" name="Text 75"/>
          <p:cNvSpPr/>
          <p:nvPr/>
        </p:nvSpPr>
        <p:spPr>
          <a:xfrm>
            <a:off x="8193024" y="633679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catchError(() =&gt; of(null))  // per call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4980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148840" cy="2304288"/>
          </a:xfrm>
          <a:prstGeom prst="rect">
            <a:avLst/>
          </a:prstGeom>
          <a:solidFill>
            <a:srgbClr val="0F2744"/>
          </a:solidFill>
          <a:ln w="12700">
            <a:solidFill>
              <a:srgbClr val="FF6B35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1115568"/>
            <a:ext cx="1005840" cy="1005840"/>
          </a:xfrm>
          <a:prstGeom prst="ellipse">
            <a:avLst/>
          </a:prstGeom>
          <a:solidFill>
            <a:srgbClr val="FF6B35">
              <a:alpha val="18000"/>
            </a:srgbClr>
          </a:solidFill>
          <a:ln w="12700">
            <a:solidFill>
              <a:srgbClr val="FF6B35">
                <a:alpha val="45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225296"/>
            <a:ext cx="786384" cy="7863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2402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26060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Web Structure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642616" y="914400"/>
            <a:ext cx="2148840" cy="2304288"/>
          </a:xfrm>
          <a:prstGeom prst="rect">
            <a:avLst/>
          </a:prstGeom>
          <a:solidFill>
            <a:srgbClr val="0F2744"/>
          </a:solidFill>
          <a:ln w="12700">
            <a:solidFill>
              <a:srgbClr val="264DE4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9544" y="1115568"/>
            <a:ext cx="1005840" cy="1005840"/>
          </a:xfrm>
          <a:prstGeom prst="ellipse">
            <a:avLst/>
          </a:prstGeom>
          <a:solidFill>
            <a:srgbClr val="264DE4">
              <a:alpha val="18000"/>
            </a:srgbClr>
          </a:solidFill>
          <a:ln w="12700">
            <a:solidFill>
              <a:srgbClr val="264DE4">
                <a:alpha val="45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1225296"/>
            <a:ext cx="786384" cy="7863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34056" y="22402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734056" y="26060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965192" y="914400"/>
            <a:ext cx="2148840" cy="2304288"/>
          </a:xfrm>
          <a:prstGeom prst="rect">
            <a:avLst/>
          </a:prstGeom>
          <a:solidFill>
            <a:srgbClr val="0F2744"/>
          </a:solidFill>
          <a:ln w="12700">
            <a:solidFill>
              <a:srgbClr val="F0DB4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532120" y="1115568"/>
            <a:ext cx="1005840" cy="1005840"/>
          </a:xfrm>
          <a:prstGeom prst="ellipse">
            <a:avLst/>
          </a:prstGeom>
          <a:solidFill>
            <a:srgbClr val="F0DB4F">
              <a:alpha val="18000"/>
            </a:srgbClr>
          </a:solidFill>
          <a:ln w="12700">
            <a:solidFill>
              <a:srgbClr val="F0DB4F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48" y="1225296"/>
            <a:ext cx="786384" cy="7863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56632" y="22402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056632" y="26060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ES6+ · Async · DOM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287768" y="914400"/>
            <a:ext cx="2148840" cy="2304288"/>
          </a:xfrm>
          <a:prstGeom prst="rect">
            <a:avLst/>
          </a:prstGeom>
          <a:solidFill>
            <a:srgbClr val="0F2744"/>
          </a:solidFill>
          <a:ln w="12700">
            <a:solidFill>
              <a:srgbClr val="512BD4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854696" y="1115568"/>
            <a:ext cx="1005840" cy="1005840"/>
          </a:xfrm>
          <a:prstGeom prst="ellipse">
            <a:avLst/>
          </a:prstGeom>
          <a:solidFill>
            <a:srgbClr val="512BD4">
              <a:alpha val="18000"/>
            </a:srgbClr>
          </a:solidFill>
          <a:ln w="12700">
            <a:solidFill>
              <a:srgbClr val="512BD4">
                <a:alpha val="4500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1225296"/>
            <a:ext cx="786384" cy="7863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9208" y="22402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379208" y="26060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Web API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9610344" y="914400"/>
            <a:ext cx="2148840" cy="2304288"/>
          </a:xfrm>
          <a:prstGeom prst="rect">
            <a:avLst/>
          </a:prstGeom>
          <a:solidFill>
            <a:srgbClr val="0F2744"/>
          </a:solidFill>
          <a:ln w="12700">
            <a:solidFill>
              <a:srgbClr val="DD0031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177272" y="1115568"/>
            <a:ext cx="1005840" cy="1005840"/>
          </a:xfrm>
          <a:prstGeom prst="ellipse">
            <a:avLst/>
          </a:prstGeom>
          <a:solidFill>
            <a:srgbClr val="DD0031">
              <a:alpha val="18000"/>
            </a:srgbClr>
          </a:solidFill>
          <a:ln w="12700">
            <a:solidFill>
              <a:srgbClr val="DD0031">
                <a:alpha val="45000"/>
              </a:srgbClr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1225296"/>
            <a:ext cx="786384" cy="7863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01784" y="22402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21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701784" y="26060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· Signals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20040" y="3547872"/>
            <a:ext cx="2148840" cy="2304288"/>
          </a:xfrm>
          <a:prstGeom prst="rect">
            <a:avLst/>
          </a:prstGeom>
          <a:solidFill>
            <a:srgbClr val="0F2744"/>
          </a:solidFill>
          <a:ln w="12700">
            <a:solidFill>
              <a:srgbClr val="3178C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86968" y="3749040"/>
            <a:ext cx="1005840" cy="1005840"/>
          </a:xfrm>
          <a:prstGeom prst="ellipse">
            <a:avLst/>
          </a:prstGeom>
          <a:solidFill>
            <a:srgbClr val="3178C6">
              <a:alpha val="18000"/>
            </a:srgbClr>
          </a:solidFill>
          <a:ln w="12700">
            <a:solidFill>
              <a:srgbClr val="3178C6">
                <a:alpha val="45000"/>
              </a:srgbClr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3858768"/>
            <a:ext cx="786384" cy="7863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11480" y="48737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411480" y="523951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Safety · Interfaces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2642616" y="3547872"/>
            <a:ext cx="2148840" cy="2304288"/>
          </a:xfrm>
          <a:prstGeom prst="rect">
            <a:avLst/>
          </a:prstGeom>
          <a:solidFill>
            <a:srgbClr val="0F2744"/>
          </a:solidFill>
          <a:ln w="12700">
            <a:solidFill>
              <a:srgbClr val="CC2927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3209544" y="3749040"/>
            <a:ext cx="1005840" cy="1005840"/>
          </a:xfrm>
          <a:prstGeom prst="ellipse">
            <a:avLst/>
          </a:prstGeom>
          <a:solidFill>
            <a:srgbClr val="CC2927">
              <a:alpha val="18000"/>
            </a:srgbClr>
          </a:solidFill>
          <a:ln w="12700">
            <a:solidFill>
              <a:srgbClr val="CC2927">
                <a:alpha val="45000"/>
              </a:srgbClr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272" y="3858768"/>
            <a:ext cx="786384" cy="78638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2734056" y="48737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2734056" y="523951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DB · Schemas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4965192" y="3547872"/>
            <a:ext cx="2148840" cy="2304288"/>
          </a:xfrm>
          <a:prstGeom prst="rect">
            <a:avLst/>
          </a:prstGeom>
          <a:solidFill>
            <a:srgbClr val="0F2744"/>
          </a:solidFill>
          <a:ln w="12700">
            <a:solidFill>
              <a:srgbClr val="85EA2D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5532120" y="3749040"/>
            <a:ext cx="1005840" cy="1005840"/>
          </a:xfrm>
          <a:prstGeom prst="ellipse">
            <a:avLst/>
          </a:prstGeom>
          <a:solidFill>
            <a:srgbClr val="85EA2D">
              <a:alpha val="18000"/>
            </a:srgbClr>
          </a:solidFill>
          <a:ln w="12700">
            <a:solidFill>
              <a:srgbClr val="85EA2D">
                <a:alpha val="45000"/>
              </a:srgbClr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41848" y="3858768"/>
            <a:ext cx="786384" cy="78638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056632" y="48737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5056632" y="523951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Docs · Testing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7287768" y="3547872"/>
            <a:ext cx="2148840" cy="2304288"/>
          </a:xfrm>
          <a:prstGeom prst="rect">
            <a:avLst/>
          </a:prstGeom>
          <a:solidFill>
            <a:srgbClr val="0F2744"/>
          </a:solidFill>
          <a:ln w="12700">
            <a:solidFill>
              <a:srgbClr val="FF6C37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7854696" y="3749040"/>
            <a:ext cx="1005840" cy="1005840"/>
          </a:xfrm>
          <a:prstGeom prst="ellipse">
            <a:avLst/>
          </a:prstGeom>
          <a:solidFill>
            <a:srgbClr val="FF6C37">
              <a:alpha val="18000"/>
            </a:srgbClr>
          </a:solidFill>
          <a:ln w="12700">
            <a:solidFill>
              <a:srgbClr val="FF6C37">
                <a:alpha val="45000"/>
              </a:srgbClr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64424" y="3858768"/>
            <a:ext cx="786384" cy="786384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7379208" y="48737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300" dirty="0"/>
          </a:p>
        </p:txBody>
      </p:sp>
      <p:sp>
        <p:nvSpPr>
          <p:cNvPr id="48" name="Text 37"/>
          <p:cNvSpPr/>
          <p:nvPr/>
        </p:nvSpPr>
        <p:spPr>
          <a:xfrm>
            <a:off x="7379208" y="523951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API Validation</a:t>
            </a:r>
            <a:endParaRPr lang="en-US" sz="1000" dirty="0"/>
          </a:p>
        </p:txBody>
      </p:sp>
      <p:sp>
        <p:nvSpPr>
          <p:cNvPr id="49" name="Shape 38"/>
          <p:cNvSpPr/>
          <p:nvPr/>
        </p:nvSpPr>
        <p:spPr>
          <a:xfrm>
            <a:off x="9610344" y="3547872"/>
            <a:ext cx="2148840" cy="2304288"/>
          </a:xfrm>
          <a:prstGeom prst="rect">
            <a:avLst/>
          </a:prstGeom>
          <a:solidFill>
            <a:srgbClr val="0F2744"/>
          </a:solidFill>
          <a:ln w="12700">
            <a:solidFill>
              <a:srgbClr val="F150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50" name="Shape 39"/>
          <p:cNvSpPr/>
          <p:nvPr/>
        </p:nvSpPr>
        <p:spPr>
          <a:xfrm>
            <a:off x="10177272" y="3749040"/>
            <a:ext cx="1005840" cy="1005840"/>
          </a:xfrm>
          <a:prstGeom prst="ellipse">
            <a:avLst/>
          </a:prstGeom>
          <a:solidFill>
            <a:srgbClr val="F1502F">
              <a:alpha val="18000"/>
            </a:srgbClr>
          </a:solidFill>
          <a:ln w="12700">
            <a:solidFill>
              <a:srgbClr val="F1502F">
                <a:alpha val="45000"/>
              </a:srgbClr>
            </a:solidFill>
            <a:prstDash val="solid"/>
          </a:ln>
        </p:spPr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0" y="3858768"/>
            <a:ext cx="786384" cy="786384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9701784" y="48737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300" dirty="0"/>
          </a:p>
        </p:txBody>
      </p:sp>
      <p:sp>
        <p:nvSpPr>
          <p:cNvPr id="53" name="Text 41"/>
          <p:cNvSpPr/>
          <p:nvPr/>
        </p:nvSpPr>
        <p:spPr>
          <a:xfrm>
            <a:off x="9701784" y="523951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4980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&amp; Outcomes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3730752" cy="2606040"/>
          </a:xfrm>
          <a:prstGeom prst="rect">
            <a:avLst/>
          </a:prstGeom>
          <a:solidFill>
            <a:srgbClr val="0F2744"/>
          </a:solidFill>
          <a:ln w="12700">
            <a:solidFill>
              <a:srgbClr val="FF6B35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96112"/>
            <a:ext cx="64008" cy="2606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" y="1060704"/>
            <a:ext cx="658368" cy="658368"/>
          </a:xfrm>
          <a:prstGeom prst="ellipse">
            <a:avLst/>
          </a:prstGeom>
          <a:solidFill>
            <a:srgbClr val="FF6B35">
              <a:alpha val="20000"/>
            </a:srgbClr>
          </a:solidFill>
          <a:ln w="12700">
            <a:solidFill>
              <a:srgbClr val="FF6B35">
                <a:alpha val="4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115568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1155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Fundamentals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21208" y="1901952"/>
            <a:ext cx="128016" cy="12801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18470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HTML5 · Responsive CSS3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21208" y="2414016"/>
            <a:ext cx="128016" cy="12801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235915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ES6+ · Async/Await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21208" y="2926080"/>
            <a:ext cx="128016" cy="12801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287121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 · DOM Manipulation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51960" y="896112"/>
            <a:ext cx="3730752" cy="2606040"/>
          </a:xfrm>
          <a:prstGeom prst="rect">
            <a:avLst/>
          </a:prstGeom>
          <a:solidFill>
            <a:srgbClr val="0F2744"/>
          </a:solidFill>
          <a:ln w="12700">
            <a:solidFill>
              <a:srgbClr val="512BD4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251960" y="896112"/>
            <a:ext cx="64008" cy="2606040"/>
          </a:xfrm>
          <a:prstGeom prst="rect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16552" y="1060704"/>
            <a:ext cx="658368" cy="658368"/>
          </a:xfrm>
          <a:prstGeom prst="ellipse">
            <a:avLst/>
          </a:prstGeom>
          <a:solidFill>
            <a:srgbClr val="512BD4">
              <a:alpha val="20000"/>
            </a:srgbClr>
          </a:solidFill>
          <a:ln w="12700">
            <a:solidFill>
              <a:srgbClr val="512BD4">
                <a:alpha val="4500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1115568"/>
            <a:ext cx="548640" cy="5486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12080" y="11155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Web API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4453128" y="1901952"/>
            <a:ext cx="128016" cy="128016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663440" y="18470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· Layered Architecture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453128" y="2414016"/>
            <a:ext cx="128016" cy="128016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663440" y="235915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· BCrypt Hashing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53128" y="2926080"/>
            <a:ext cx="128016" cy="128016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663440" y="287121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Code First · Migrations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8183880" y="896112"/>
            <a:ext cx="3730752" cy="2606040"/>
          </a:xfrm>
          <a:prstGeom prst="rect">
            <a:avLst/>
          </a:prstGeom>
          <a:solidFill>
            <a:srgbClr val="0F2744"/>
          </a:solidFill>
          <a:ln w="12700">
            <a:solidFill>
              <a:srgbClr val="DD0031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183880" y="896112"/>
            <a:ext cx="64008" cy="2606040"/>
          </a:xfrm>
          <a:prstGeom prst="rect">
            <a:avLst/>
          </a:prstGeom>
          <a:solidFill>
            <a:srgbClr val="DD0031"/>
          </a:solidFill>
          <a:ln w="12700">
            <a:solidFill>
              <a:srgbClr val="DD0031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348472" y="1060704"/>
            <a:ext cx="658368" cy="658368"/>
          </a:xfrm>
          <a:prstGeom prst="ellipse">
            <a:avLst/>
          </a:prstGeom>
          <a:solidFill>
            <a:srgbClr val="DD0031">
              <a:alpha val="20000"/>
            </a:srgbClr>
          </a:solidFill>
          <a:ln w="12700">
            <a:solidFill>
              <a:srgbClr val="DD0031">
                <a:alpha val="45000"/>
              </a:srgbClr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1115568"/>
            <a:ext cx="548640" cy="54864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144000" y="11155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+ TypeScript</a:t>
            </a:r>
            <a:endParaRPr lang="en-US" sz="1350" dirty="0"/>
          </a:p>
        </p:txBody>
      </p:sp>
      <p:sp>
        <p:nvSpPr>
          <p:cNvPr id="31" name="Shape 26"/>
          <p:cNvSpPr/>
          <p:nvPr/>
        </p:nvSpPr>
        <p:spPr>
          <a:xfrm>
            <a:off x="8385048" y="1901952"/>
            <a:ext cx="128016" cy="128016"/>
          </a:xfrm>
          <a:prstGeom prst="ellipse">
            <a:avLst/>
          </a:prstGeom>
          <a:solidFill>
            <a:srgbClr val="DD0031"/>
          </a:solidFill>
          <a:ln w="12700">
            <a:solidFill>
              <a:srgbClr val="DD0031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595360" y="18470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Comps · Signals State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8385048" y="2414016"/>
            <a:ext cx="128016" cy="128016"/>
          </a:xfrm>
          <a:prstGeom prst="ellipse">
            <a:avLst/>
          </a:prstGeom>
          <a:solidFill>
            <a:srgbClr val="DD0031"/>
          </a:solidFill>
          <a:ln w="12700">
            <a:solidFill>
              <a:srgbClr val="DD0031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8595360" y="235915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Interfaces · Generics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8385048" y="2926080"/>
            <a:ext cx="128016" cy="128016"/>
          </a:xfrm>
          <a:prstGeom prst="ellipse">
            <a:avLst/>
          </a:prstGeom>
          <a:solidFill>
            <a:srgbClr val="DD0031"/>
          </a:solidFill>
          <a:ln w="12700">
            <a:solidFill>
              <a:srgbClr val="DD0031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8595360" y="287121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Guards · HTTP Interceptor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320040" y="3767328"/>
            <a:ext cx="3730752" cy="2606040"/>
          </a:xfrm>
          <a:prstGeom prst="rect">
            <a:avLst/>
          </a:prstGeom>
          <a:solidFill>
            <a:srgbClr val="0F2744"/>
          </a:solidFill>
          <a:ln w="12700">
            <a:solidFill>
              <a:srgbClr val="00D4C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320040" y="3767328"/>
            <a:ext cx="64008" cy="260604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484632" y="3931920"/>
            <a:ext cx="658368" cy="658368"/>
          </a:xfrm>
          <a:prstGeom prst="ellipse">
            <a:avLst/>
          </a:prstGeom>
          <a:solidFill>
            <a:srgbClr val="00D4C8">
              <a:alpha val="20000"/>
            </a:srgbClr>
          </a:solidFill>
          <a:ln w="12700">
            <a:solidFill>
              <a:srgbClr val="00D4C8">
                <a:alpha val="45000"/>
              </a:srgbClr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3986784"/>
            <a:ext cx="548640" cy="54864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1280160" y="3986784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Design</a:t>
            </a:r>
            <a:endParaRPr lang="en-US" sz="1350" dirty="0"/>
          </a:p>
        </p:txBody>
      </p:sp>
      <p:sp>
        <p:nvSpPr>
          <p:cNvPr id="42" name="Shape 36"/>
          <p:cNvSpPr/>
          <p:nvPr/>
        </p:nvSpPr>
        <p:spPr>
          <a:xfrm>
            <a:off x="521208" y="4773168"/>
            <a:ext cx="128016" cy="128016"/>
          </a:xfrm>
          <a:prstGeom prst="ellipse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731520" y="4718304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Services · Ocelot Gateway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521208" y="5285232"/>
            <a:ext cx="128016" cy="128016"/>
          </a:xfrm>
          <a:prstGeom prst="ellipse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731520" y="523036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SharedKernel · API Contracts</a:t>
            </a:r>
            <a:endParaRPr lang="en-US" sz="1100" dirty="0"/>
          </a:p>
        </p:txBody>
      </p:sp>
      <p:sp>
        <p:nvSpPr>
          <p:cNvPr id="46" name="Shape 40"/>
          <p:cNvSpPr/>
          <p:nvPr/>
        </p:nvSpPr>
        <p:spPr>
          <a:xfrm>
            <a:off x="521208" y="5797296"/>
            <a:ext cx="128016" cy="128016"/>
          </a:xfrm>
          <a:prstGeom prst="ellipse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731520" y="574243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decomposition principles</a:t>
            </a:r>
            <a:endParaRPr lang="en-US" sz="1100" dirty="0"/>
          </a:p>
        </p:txBody>
      </p:sp>
      <p:sp>
        <p:nvSpPr>
          <p:cNvPr id="48" name="Shape 42"/>
          <p:cNvSpPr/>
          <p:nvPr/>
        </p:nvSpPr>
        <p:spPr>
          <a:xfrm>
            <a:off x="4251960" y="3767328"/>
            <a:ext cx="3730752" cy="2606040"/>
          </a:xfrm>
          <a:prstGeom prst="rect">
            <a:avLst/>
          </a:prstGeom>
          <a:solidFill>
            <a:srgbClr val="0F2744"/>
          </a:solidFill>
          <a:ln w="12700">
            <a:solidFill>
              <a:srgbClr val="EAB30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9" name="Shape 43"/>
          <p:cNvSpPr/>
          <p:nvPr/>
        </p:nvSpPr>
        <p:spPr>
          <a:xfrm>
            <a:off x="4251960" y="3767328"/>
            <a:ext cx="64008" cy="260604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4416552" y="3931920"/>
            <a:ext cx="658368" cy="658368"/>
          </a:xfrm>
          <a:prstGeom prst="ellipse">
            <a:avLst/>
          </a:prstGeom>
          <a:solidFill>
            <a:srgbClr val="EAB308">
              <a:alpha val="20000"/>
            </a:srgbClr>
          </a:solidFill>
          <a:ln w="12700">
            <a:solidFill>
              <a:srgbClr val="EAB308">
                <a:alpha val="45000"/>
              </a:srgbClr>
            </a:solidFill>
            <a:prstDash val="solid"/>
          </a:ln>
        </p:spPr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1416" y="3986784"/>
            <a:ext cx="548640" cy="548640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5212080" y="3986784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Aggregation</a:t>
            </a:r>
            <a:endParaRPr lang="en-US" sz="1350" dirty="0"/>
          </a:p>
        </p:txBody>
      </p:sp>
      <p:sp>
        <p:nvSpPr>
          <p:cNvPr id="53" name="Shape 46"/>
          <p:cNvSpPr/>
          <p:nvPr/>
        </p:nvSpPr>
        <p:spPr>
          <a:xfrm>
            <a:off x="4453128" y="4773168"/>
            <a:ext cx="128016" cy="128016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4663440" y="4718304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Task.WhenAll parallel fetch</a:t>
            </a:r>
            <a:endParaRPr lang="en-US" sz="1100" dirty="0"/>
          </a:p>
        </p:txBody>
      </p:sp>
      <p:sp>
        <p:nvSpPr>
          <p:cNvPr id="55" name="Shape 48"/>
          <p:cNvSpPr/>
          <p:nvPr/>
        </p:nvSpPr>
        <p:spPr>
          <a:xfrm>
            <a:off x="4453128" y="5285232"/>
            <a:ext cx="128016" cy="128016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56" name="Text 49"/>
          <p:cNvSpPr/>
          <p:nvPr/>
        </p:nvSpPr>
        <p:spPr>
          <a:xfrm>
            <a:off x="4663440" y="523036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forkJoin with resilient catchError</a:t>
            </a:r>
            <a:endParaRPr lang="en-US" sz="1100" dirty="0"/>
          </a:p>
        </p:txBody>
      </p:sp>
      <p:sp>
        <p:nvSpPr>
          <p:cNvPr id="57" name="Shape 50"/>
          <p:cNvSpPr/>
          <p:nvPr/>
        </p:nvSpPr>
        <p:spPr>
          <a:xfrm>
            <a:off x="4453128" y="5797296"/>
            <a:ext cx="128016" cy="128016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58" name="Text 51"/>
          <p:cNvSpPr/>
          <p:nvPr/>
        </p:nvSpPr>
        <p:spPr>
          <a:xfrm>
            <a:off x="4663440" y="574243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KPI report endpoints designed</a:t>
            </a:r>
            <a:endParaRPr lang="en-US" sz="1100" dirty="0"/>
          </a:p>
        </p:txBody>
      </p:sp>
      <p:sp>
        <p:nvSpPr>
          <p:cNvPr id="59" name="Shape 52"/>
          <p:cNvSpPr/>
          <p:nvPr/>
        </p:nvSpPr>
        <p:spPr>
          <a:xfrm>
            <a:off x="8183880" y="3767328"/>
            <a:ext cx="3730752" cy="2606040"/>
          </a:xfrm>
          <a:prstGeom prst="rect">
            <a:avLst/>
          </a:prstGeom>
          <a:solidFill>
            <a:srgbClr val="0F2744"/>
          </a:solidFill>
          <a:ln w="12700">
            <a:solidFill>
              <a:srgbClr val="A855F7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0" name="Shape 53"/>
          <p:cNvSpPr/>
          <p:nvPr/>
        </p:nvSpPr>
        <p:spPr>
          <a:xfrm>
            <a:off x="8183880" y="3767328"/>
            <a:ext cx="64008" cy="26060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1" name="Shape 54"/>
          <p:cNvSpPr/>
          <p:nvPr/>
        </p:nvSpPr>
        <p:spPr>
          <a:xfrm>
            <a:off x="8348472" y="3931920"/>
            <a:ext cx="658368" cy="658368"/>
          </a:xfrm>
          <a:prstGeom prst="ellipse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</p:sp>
      <p:pic>
        <p:nvPicPr>
          <p:cNvPr id="6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3336" y="3986784"/>
            <a:ext cx="548640" cy="548640"/>
          </a:xfrm>
          <a:prstGeom prst="rect">
            <a:avLst/>
          </a:prstGeom>
        </p:spPr>
      </p:pic>
      <p:sp>
        <p:nvSpPr>
          <p:cNvPr id="63" name="Text 55"/>
          <p:cNvSpPr/>
          <p:nvPr/>
        </p:nvSpPr>
        <p:spPr>
          <a:xfrm>
            <a:off x="9144000" y="3986784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RBAC</a:t>
            </a:r>
            <a:endParaRPr lang="en-US" sz="1350" dirty="0"/>
          </a:p>
        </p:txBody>
      </p:sp>
      <p:sp>
        <p:nvSpPr>
          <p:cNvPr id="64" name="Shape 56"/>
          <p:cNvSpPr/>
          <p:nvPr/>
        </p:nvSpPr>
        <p:spPr>
          <a:xfrm>
            <a:off x="8385048" y="4773168"/>
            <a:ext cx="128016" cy="12801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5" name="Text 57"/>
          <p:cNvSpPr/>
          <p:nvPr/>
        </p:nvSpPr>
        <p:spPr>
          <a:xfrm>
            <a:off x="8595360" y="4718304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user roles enforced end-to-end</a:t>
            </a:r>
            <a:endParaRPr lang="en-US" sz="1100" dirty="0"/>
          </a:p>
        </p:txBody>
      </p:sp>
      <p:sp>
        <p:nvSpPr>
          <p:cNvPr id="66" name="Shape 58"/>
          <p:cNvSpPr/>
          <p:nvPr/>
        </p:nvSpPr>
        <p:spPr>
          <a:xfrm>
            <a:off x="8385048" y="5285232"/>
            <a:ext cx="128016" cy="12801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7" name="Text 59"/>
          <p:cNvSpPr/>
          <p:nvPr/>
        </p:nvSpPr>
        <p:spPr>
          <a:xfrm>
            <a:off x="8595360" y="523036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[Authorize(Roles)] at API level</a:t>
            </a:r>
            <a:endParaRPr lang="en-US" sz="1100" dirty="0"/>
          </a:p>
        </p:txBody>
      </p:sp>
      <p:sp>
        <p:nvSpPr>
          <p:cNvPr id="68" name="Shape 60"/>
          <p:cNvSpPr/>
          <p:nvPr/>
        </p:nvSpPr>
        <p:spPr>
          <a:xfrm>
            <a:off x="8385048" y="5797296"/>
            <a:ext cx="128016" cy="12801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9" name="Text 61"/>
          <p:cNvSpPr/>
          <p:nvPr/>
        </p:nvSpPr>
        <p:spPr>
          <a:xfrm>
            <a:off x="8595360" y="574243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roleGuard protection at UI level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-1828800"/>
            <a:ext cx="8229600" cy="8229600"/>
          </a:xfrm>
          <a:prstGeom prst="ellipse">
            <a:avLst/>
          </a:prstGeom>
          <a:solidFill>
            <a:srgbClr val="00D4C8">
              <a:alpha val="10000"/>
            </a:srgbClr>
          </a:solidFill>
          <a:ln w="12700">
            <a:solidFill>
              <a:srgbClr val="00D4C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914400"/>
            <a:ext cx="7315200" cy="7315200"/>
          </a:xfrm>
          <a:prstGeom prst="ellipse">
            <a:avLst/>
          </a:prstGeom>
          <a:solidFill>
            <a:srgbClr val="FF6B35">
              <a:alpha val="10000"/>
            </a:srgbClr>
          </a:solidFill>
          <a:ln w="12700">
            <a:solidFill>
              <a:srgbClr val="FF6B35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0"/>
            <a:ext cx="54864" cy="685800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347472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LOVELY PROFESSIONAL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20040" y="1554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5800" dirty="0"/>
          </a:p>
        </p:txBody>
      </p:sp>
      <p:sp>
        <p:nvSpPr>
          <p:cNvPr id="9" name="Text 6"/>
          <p:cNvSpPr/>
          <p:nvPr/>
        </p:nvSpPr>
        <p:spPr>
          <a:xfrm>
            <a:off x="320040" y="23317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5800" dirty="0"/>
          </a:p>
        </p:txBody>
      </p:sp>
      <p:sp>
        <p:nvSpPr>
          <p:cNvPr id="10" name="Text 7"/>
          <p:cNvSpPr/>
          <p:nvPr/>
        </p:nvSpPr>
        <p:spPr>
          <a:xfrm>
            <a:off x="320040" y="34747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Shubhachand Patel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20040" y="39136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No. 12208506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0040" y="4206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— 8th Semester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20040" y="4526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Lovely Professional University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0040" y="50749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Cognizant Technology Solutions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· 2025–2026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520440" y="45720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3520440" y="1078992"/>
            <a:ext cx="8321040" cy="530352"/>
          </a:xfrm>
          <a:prstGeom prst="rect">
            <a:avLst/>
          </a:prstGeom>
          <a:solidFill>
            <a:srgbClr val="0F2744"/>
          </a:solidFill>
          <a:ln w="12700">
            <a:solidFill>
              <a:srgbClr val="00D4C8">
                <a:alpha val="35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520440" y="1078992"/>
            <a:ext cx="54864" cy="530352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0" y="11978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166360" y="119786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WellTrack – Corporate Wellness Management System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520440" y="1737360"/>
            <a:ext cx="8321040" cy="530352"/>
          </a:xfrm>
          <a:prstGeom prst="rect">
            <a:avLst/>
          </a:prstGeom>
          <a:solidFill>
            <a:srgbClr val="0F2744"/>
          </a:solidFill>
          <a:ln w="12700">
            <a:solidFill>
              <a:srgbClr val="FF6B35">
                <a:alpha val="35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520440" y="1737360"/>
            <a:ext cx="54864" cy="5303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0" y="18562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166360" y="185623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JS · .NET Web API · Angular · TypeScript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520440" y="2395728"/>
            <a:ext cx="8321040" cy="530352"/>
          </a:xfrm>
          <a:prstGeom prst="rect">
            <a:avLst/>
          </a:prstGeom>
          <a:solidFill>
            <a:srgbClr val="0F2744"/>
          </a:solidFill>
          <a:ln w="12700">
            <a:solidFill>
              <a:srgbClr val="A855F7">
                <a:alpha val="35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520440" y="2395728"/>
            <a:ext cx="54864" cy="5303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0" y="2514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166360" y="25146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Microservices + Ocelot API Gateway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520440" y="3054096"/>
            <a:ext cx="8321040" cy="530352"/>
          </a:xfrm>
          <a:prstGeom prst="rect">
            <a:avLst/>
          </a:prstGeom>
          <a:solidFill>
            <a:srgbClr val="0F2744"/>
          </a:solidFill>
          <a:ln w="12700">
            <a:solidFill>
              <a:srgbClr val="EAB308">
                <a:alpha val="35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20440" y="3054096"/>
            <a:ext cx="54864" cy="53035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3172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166360" y="317296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(HmacSha256) · BCrypt · RBAC (5 roles)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520440" y="3712464"/>
            <a:ext cx="8321040" cy="530352"/>
          </a:xfrm>
          <a:prstGeom prst="rect">
            <a:avLst/>
          </a:prstGeom>
          <a:solidFill>
            <a:srgbClr val="0F2744"/>
          </a:solidFill>
          <a:ln w="12700">
            <a:solidFill>
              <a:srgbClr val="22C55E">
                <a:alpha val="35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520440" y="3712464"/>
            <a:ext cx="54864" cy="5303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57600" y="38313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5166360" y="383133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· EF Core Code First · Fluent API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3520440" y="4370832"/>
            <a:ext cx="8321040" cy="530352"/>
          </a:xfrm>
          <a:prstGeom prst="rect">
            <a:avLst/>
          </a:prstGeom>
          <a:solidFill>
            <a:srgbClr val="0F2744"/>
          </a:solidFill>
          <a:ln w="1270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520440" y="4370832"/>
            <a:ext cx="54864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657600" y="44897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Module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5166360" y="448970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Analytics — 7 KPI Endpoints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3520440" y="5029200"/>
            <a:ext cx="8321040" cy="530352"/>
          </a:xfrm>
          <a:prstGeom prst="rect">
            <a:avLst/>
          </a:prstGeom>
          <a:solidFill>
            <a:srgbClr val="0F2744"/>
          </a:solidFill>
          <a:ln w="12700">
            <a:solidFill>
              <a:srgbClr val="3178C6">
                <a:alpha val="3500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520440" y="5029200"/>
            <a:ext cx="54864" cy="530352"/>
          </a:xfrm>
          <a:prstGeom prst="rect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657600" y="5148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17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State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5166360" y="514807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Signals (signal · computed · effect)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3520440" y="5687568"/>
            <a:ext cx="8321040" cy="530352"/>
          </a:xfrm>
          <a:prstGeom prst="rect">
            <a:avLst/>
          </a:prstGeom>
          <a:solidFill>
            <a:srgbClr val="0F2744"/>
          </a:solidFill>
          <a:ln w="12700">
            <a:solidFill>
              <a:srgbClr val="FFB347">
                <a:alpha val="3500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3520440" y="5687568"/>
            <a:ext cx="54864" cy="530352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657600" y="5806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Fetch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5166360" y="58064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Task.WhenAll (backend) · forkJoin (frontend)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2026-05-21T06:11:22Z</dcterms:created>
  <dcterms:modified xsi:type="dcterms:W3CDTF">2026-05-21T06:11:22Z</dcterms:modified>
</cp:coreProperties>
</file>